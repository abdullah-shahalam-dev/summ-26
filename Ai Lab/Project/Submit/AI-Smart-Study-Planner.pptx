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4" r:id="rId13"/>
    <p:sldId id="265" r:id="rId14"/>
  </p:sldIdLst>
  <p:sldSz cx="12191365" cy="6858000"/>
  <p:notesSz cx="6858000" cy="12191365"/>
  <p:embeddedFontLst>
    <p:embeddedFont>
      <p:font typeface="Raleway" pitchFamily="34" charset="0"/>
      <p:regular r:id="rId18"/>
    </p:embeddedFont>
    <p:embeddedFont>
      <p:font typeface="Raleway" pitchFamily="34" charset="-122"/>
      <p:regular r:id="rId19"/>
    </p:embeddedFont>
    <p:embeddedFont>
      <p:font typeface="Raleway" pitchFamily="34" charset="-120"/>
      <p:regular r:id="rId20"/>
    </p:embeddedFont>
    <p:embeddedFont>
      <p:font typeface="Roboto" panose="02000000000000000000" pitchFamily="34" charset="0"/>
      <p:regular r:id="rId21"/>
    </p:embeddedFont>
    <p:embeddedFont>
      <p:font typeface="Roboto" panose="02000000000000000000" pitchFamily="34" charset="-122"/>
      <p:regular r:id="rId22"/>
    </p:embeddedFont>
    <p:embeddedFont>
      <p:font typeface="Roboto" panose="02000000000000000000" pitchFamily="34" charset="-120"/>
      <p:regular r:id="rId23"/>
    </p:embeddedFont>
    <p:embeddedFont>
      <p:font typeface="Roboto Bold" panose="02000000000000000000" pitchFamily="34" charset="0"/>
      <p:bold r:id="rId24"/>
    </p:embeddedFont>
    <p:embeddedFont>
      <p:font typeface="Roboto Bold" panose="02000000000000000000" pitchFamily="34" charset="-122"/>
      <p:bold r:id="rId25"/>
    </p:embeddedFont>
    <p:embeddedFont>
      <p:font typeface="Roboto Bold" panose="02000000000000000000" pitchFamily="34" charset="-120"/>
      <p:bold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svg"/><Relationship Id="rId8" Type="http://schemas.openxmlformats.org/officeDocument/2006/relationships/image" Target="../media/image21.png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69380"/>
            <a:ext cx="6296860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Smart Study Planner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943497"/>
            <a:ext cx="6906444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Genetic Algorithm + Constraint Satisfaction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505770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661670" y="2755265"/>
            <a:ext cx="6297295" cy="1706880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6832" y="2986385"/>
            <a:ext cx="1582202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Group Memebers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615" y="3395345"/>
            <a:ext cx="3911600" cy="9074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/>
              <a:t>Abdullah Shah Alam (IU04-0123-0462).</a:t>
            </a:r>
            <a:br>
              <a:rPr lang="en-US" sz="1450" dirty="0"/>
            </a:br>
            <a:r>
              <a:rPr lang="en-US" sz="1450" dirty="0"/>
              <a:t>Waqas Ahmed (</a:t>
            </a:r>
            <a:r>
              <a:rPr lang="en-US" altLang="en-US" sz="1450" dirty="0"/>
              <a:t>IU04-0123-0691</a:t>
            </a:r>
            <a:r>
              <a:rPr lang="en-US" sz="1450" dirty="0"/>
              <a:t>).</a:t>
            </a:r>
            <a:br>
              <a:rPr lang="en-US" sz="1450" dirty="0"/>
            </a:br>
            <a:r>
              <a:rPr lang="en-US" sz="1450" dirty="0"/>
              <a:t>Suhana Ali (</a:t>
            </a:r>
            <a:r>
              <a:rPr lang="en-US" altLang="en-US" sz="1450" dirty="0"/>
              <a:t>Iu04-0322-0580</a:t>
            </a:r>
            <a:r>
              <a:rPr lang="en-US" sz="1450" dirty="0"/>
              <a:t>).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61475" y="4686697"/>
            <a:ext cx="62967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6832" y="4882059"/>
            <a:ext cx="590604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Supervisor · Date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56832" y="5290741"/>
            <a:ext cx="5906047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Sir Mubasshir Ahmed · 29-August-2026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90277"/>
            <a:ext cx="6296860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&amp; Motivation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444129"/>
            <a:ext cx="6296860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Manual study schedule planning forces students to juggle </a:t>
            </a:r>
            <a:r>
              <a:rPr lang="en-US" sz="11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multiple competing requirements simultaneously</a:t>
            </a: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a task prone to error, conflict, and inefficiency.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27" y="2156172"/>
            <a:ext cx="22680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2893" y="2151559"/>
            <a:ext cx="2472569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 &amp; Effort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152893" y="2508746"/>
            <a:ext cx="2472569" cy="6530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Time-consuming manual planning; difficulty balancing multiple subjects simultaneously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27" y="3408313"/>
            <a:ext cx="226808" cy="2268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2893" y="3403699"/>
            <a:ext cx="2472569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Priority &amp; Difficulty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152893" y="3760887"/>
            <a:ext cx="2472569" cy="6530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Managing different priority and difficulty levels; respecting preferred study-time requirements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27" y="4660454"/>
            <a:ext cx="226808" cy="2268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2893" y="4655840"/>
            <a:ext cx="2472569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Session Management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152893" y="5013027"/>
            <a:ext cx="2472569" cy="6530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Ensuring adequate breaks; avoiding excessive consecutive sessions; maintaining subject-hour balance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350" y="2156172"/>
            <a:ext cx="226808" cy="2268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92116" y="2151559"/>
            <a:ext cx="2472569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Conflicts &amp; Capacity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4492116" y="2508746"/>
            <a:ext cx="2472569" cy="6530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Preventing scheduling conflicts; respecting limited daily study capacity</a:t>
            </a:r>
            <a:endParaRPr lang="en-US" sz="11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350" y="3408313"/>
            <a:ext cx="226808" cy="22681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492116" y="3403699"/>
            <a:ext cx="2472569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Hour Balance</a:t>
            </a:r>
            <a:endParaRPr lang="en-US" sz="1450" dirty="0"/>
          </a:p>
        </p:txBody>
      </p:sp>
      <p:sp>
        <p:nvSpPr>
          <p:cNvPr id="19" name="Text 11"/>
          <p:cNvSpPr/>
          <p:nvPr/>
        </p:nvSpPr>
        <p:spPr>
          <a:xfrm>
            <a:off x="4492116" y="3760887"/>
            <a:ext cx="2472569" cy="6530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Maintaining fair allocation across subjects without over- or under-scheduling any course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4000698" y="4549973"/>
            <a:ext cx="2963987" cy="1381720"/>
          </a:xfrm>
          <a:prstGeom prst="roundRect">
            <a:avLst>
              <a:gd name="adj" fmla="val 4596"/>
            </a:avLst>
          </a:prstGeom>
          <a:solidFill>
            <a:srgbClr val="E1E1EA"/>
          </a:solidFill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903" y="4735116"/>
            <a:ext cx="189007" cy="15120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492116" y="4696619"/>
            <a:ext cx="2321363" cy="10884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Core Insight:</a:t>
            </a:r>
            <a:r>
              <a:rPr lang="en-US" sz="11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A study timetable must satisfy multiple requirements simultaneously — making automated optimization highly valuable.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784"/>
            <a:ext cx="10868745" cy="5316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 &amp; Proposed Solution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75085"/>
            <a:ext cx="3534282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61475" y="2006600"/>
            <a:ext cx="85028" cy="85030"/>
          </a:xfrm>
          <a:prstGeom prst="ellipse">
            <a:avLst/>
          </a:prstGeom>
          <a:solidFill>
            <a:srgbClr val="1B1B27"/>
          </a:solidFill>
        </p:spPr>
      </p:sp>
      <p:sp>
        <p:nvSpPr>
          <p:cNvPr id="5" name="Text 3"/>
          <p:cNvSpPr/>
          <p:nvPr/>
        </p:nvSpPr>
        <p:spPr>
          <a:xfrm>
            <a:off x="899594" y="1913037"/>
            <a:ext cx="3296163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Automate timetable generation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571353"/>
            <a:ext cx="85028" cy="85030"/>
          </a:xfrm>
          <a:prstGeom prst="ellipse">
            <a:avLst/>
          </a:prstGeom>
          <a:solidFill>
            <a:srgbClr val="1B1B27"/>
          </a:solidFill>
        </p:spPr>
      </p:sp>
      <p:sp>
        <p:nvSpPr>
          <p:cNvPr id="7" name="Text 5"/>
          <p:cNvSpPr/>
          <p:nvPr/>
        </p:nvSpPr>
        <p:spPr>
          <a:xfrm>
            <a:off x="899594" y="2477790"/>
            <a:ext cx="3296163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Optimize study time allocation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3136106"/>
            <a:ext cx="85028" cy="85030"/>
          </a:xfrm>
          <a:prstGeom prst="ellipse">
            <a:avLst/>
          </a:prstGeom>
          <a:solidFill>
            <a:srgbClr val="1B1B27"/>
          </a:solidFill>
        </p:spPr>
      </p:sp>
      <p:sp>
        <p:nvSpPr>
          <p:cNvPr id="9" name="Text 7"/>
          <p:cNvSpPr/>
          <p:nvPr/>
        </p:nvSpPr>
        <p:spPr>
          <a:xfrm>
            <a:off x="899594" y="3042543"/>
            <a:ext cx="3296163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Consider priority and difficulty levels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700859"/>
            <a:ext cx="85028" cy="85030"/>
          </a:xfrm>
          <a:prstGeom prst="ellipse">
            <a:avLst/>
          </a:prstGeom>
          <a:solidFill>
            <a:srgbClr val="1B1B27"/>
          </a:solidFill>
        </p:spPr>
      </p:sp>
      <p:sp>
        <p:nvSpPr>
          <p:cNvPr id="11" name="Text 9"/>
          <p:cNvSpPr/>
          <p:nvPr/>
        </p:nvSpPr>
        <p:spPr>
          <a:xfrm>
            <a:off x="899594" y="3607296"/>
            <a:ext cx="3296163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Respect preferred study periods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265613"/>
            <a:ext cx="85028" cy="85030"/>
          </a:xfrm>
          <a:prstGeom prst="ellipse">
            <a:avLst/>
          </a:prstGeom>
          <a:solidFill>
            <a:srgbClr val="1B1B27"/>
          </a:solidFill>
        </p:spPr>
      </p:sp>
      <p:sp>
        <p:nvSpPr>
          <p:cNvPr id="13" name="Text 11"/>
          <p:cNvSpPr/>
          <p:nvPr/>
        </p:nvSpPr>
        <p:spPr>
          <a:xfrm>
            <a:off x="899594" y="4172049"/>
            <a:ext cx="3296163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Maintain breaks between sessions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4830366"/>
            <a:ext cx="85028" cy="85030"/>
          </a:xfrm>
          <a:prstGeom prst="ellipse">
            <a:avLst/>
          </a:prstGeom>
          <a:solidFill>
            <a:srgbClr val="1B1B27"/>
          </a:solidFill>
        </p:spPr>
      </p:sp>
      <p:sp>
        <p:nvSpPr>
          <p:cNvPr id="15" name="Text 13"/>
          <p:cNvSpPr/>
          <p:nvPr/>
        </p:nvSpPr>
        <p:spPr>
          <a:xfrm>
            <a:off x="899594" y="4736802"/>
            <a:ext cx="3296163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Avoid scheduling conflicts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5395119"/>
            <a:ext cx="85028" cy="85030"/>
          </a:xfrm>
          <a:prstGeom prst="ellipse">
            <a:avLst/>
          </a:prstGeom>
          <a:solidFill>
            <a:srgbClr val="1B1B27"/>
          </a:solidFill>
        </p:spPr>
      </p:sp>
      <p:sp>
        <p:nvSpPr>
          <p:cNvPr id="17" name="Text 15"/>
          <p:cNvSpPr/>
          <p:nvPr/>
        </p:nvSpPr>
        <p:spPr>
          <a:xfrm>
            <a:off x="899594" y="5301555"/>
            <a:ext cx="3296163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Validate all constraints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1475" y="5959872"/>
            <a:ext cx="85028" cy="85030"/>
          </a:xfrm>
          <a:prstGeom prst="ellipse">
            <a:avLst/>
          </a:prstGeom>
          <a:solidFill>
            <a:srgbClr val="1B1B27"/>
          </a:solidFill>
        </p:spPr>
      </p:sp>
      <p:sp>
        <p:nvSpPr>
          <p:cNvPr id="19" name="Text 17"/>
          <p:cNvSpPr/>
          <p:nvPr/>
        </p:nvSpPr>
        <p:spPr>
          <a:xfrm>
            <a:off x="899594" y="5866309"/>
            <a:ext cx="3296163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Report schedule overflow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029" y="1634827"/>
            <a:ext cx="6919442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 Pipeline</a:t>
            </a:r>
            <a:endParaRPr lang="en-US" sz="16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2996" y="2072779"/>
            <a:ext cx="6227408" cy="2689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49041" y="3878257"/>
            <a:ext cx="924644" cy="3368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Candidate Schedule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49041" y="4262982"/>
            <a:ext cx="924644" cy="2559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Generate initial session proposals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823290" y="3918676"/>
            <a:ext cx="924644" cy="168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CSP Validation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823290" y="4134989"/>
            <a:ext cx="924644" cy="3839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Check conflicts and constraint rules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64864" y="2315500"/>
            <a:ext cx="924644" cy="1684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Input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264864" y="2531814"/>
            <a:ext cx="924644" cy="3839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Provide goals, priorities, constraints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9972196" y="2315500"/>
            <a:ext cx="924644" cy="3368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Optimized Timetable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972196" y="2700225"/>
            <a:ext cx="924644" cy="3839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Final schedule respecting preferences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650901" y="2315500"/>
            <a:ext cx="924644" cy="3368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Genetic Algorithm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650901" y="2700225"/>
            <a:ext cx="924644" cy="2559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Optimize allocation and sequencing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617029" y="4934942"/>
            <a:ext cx="6919442" cy="1030188"/>
          </a:xfrm>
          <a:prstGeom prst="roundRect">
            <a:avLst>
              <a:gd name="adj" fmla="val 693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23379" y="4941292"/>
            <a:ext cx="3453321" cy="1017488"/>
          </a:xfrm>
          <a:custGeom>
            <a:avLst/>
            <a:gdLst/>
            <a:ahLst/>
            <a:cxnLst/>
            <a:rect l="l" t="t" r="r" b="b"/>
            <a:pathLst>
              <a:path w="3453321" h="1017488">
                <a:moveTo>
                  <a:pt x="59541" y="0"/>
                </a:moveTo>
                <a:lnTo>
                  <a:pt x="3453321" y="0"/>
                </a:lnTo>
                <a:lnTo>
                  <a:pt x="3453321" y="1017488"/>
                </a:lnTo>
                <a:lnTo>
                  <a:pt x="59541" y="1017488"/>
                </a:lnTo>
                <a:arcTo wR="59541" hR="59542" stAng="5400000" swAng="5400000"/>
                <a:lnTo>
                  <a:pt x="0" y="59542"/>
                </a:lnTo>
                <a:arcTo wR="59541" hR="59542" stAng="10800000" swAng="5400000"/>
                <a:close/>
              </a:path>
            </a:pathLst>
          </a:custGeom>
          <a:solidFill>
            <a:srgbClr val="E1E1EA"/>
          </a:solidFill>
        </p:spPr>
      </p:sp>
      <p:sp>
        <p:nvSpPr>
          <p:cNvPr id="34" name="Text 31"/>
          <p:cNvSpPr/>
          <p:nvPr/>
        </p:nvSpPr>
        <p:spPr>
          <a:xfrm>
            <a:off x="4793436" y="5111353"/>
            <a:ext cx="3113208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4793436" y="5530155"/>
            <a:ext cx="3113208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076700" y="4941292"/>
            <a:ext cx="3453421" cy="1017488"/>
          </a:xfrm>
          <a:custGeom>
            <a:avLst/>
            <a:gdLst/>
            <a:ahLst/>
            <a:cxnLst/>
            <a:rect l="l" t="t" r="r" b="b"/>
            <a:pathLst>
              <a:path w="3453421" h="1017488">
                <a:moveTo>
                  <a:pt x="0" y="0"/>
                </a:moveTo>
                <a:lnTo>
                  <a:pt x="3393880" y="0"/>
                </a:lnTo>
                <a:arcTo wR="59541" hR="59542" stAng="16200000" swAng="5400000"/>
                <a:lnTo>
                  <a:pt x="3453421" y="957946"/>
                </a:lnTo>
                <a:arcTo wR="59541" hR="59542" stAng="0" swAng="5400000"/>
                <a:lnTo>
                  <a:pt x="0" y="1017488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37" name="Shape 34"/>
          <p:cNvSpPr/>
          <p:nvPr/>
        </p:nvSpPr>
        <p:spPr>
          <a:xfrm>
            <a:off x="8076700" y="4941292"/>
            <a:ext cx="19050" cy="1017488"/>
          </a:xfrm>
          <a:prstGeom prst="roundRect">
            <a:avLst>
              <a:gd name="adj" fmla="val 49999"/>
            </a:avLst>
          </a:prstGeom>
          <a:solidFill>
            <a:srgbClr val="C7C7D0"/>
          </a:solidFill>
        </p:spPr>
      </p:sp>
      <p:sp>
        <p:nvSpPr>
          <p:cNvPr id="38" name="Text 35"/>
          <p:cNvSpPr/>
          <p:nvPr/>
        </p:nvSpPr>
        <p:spPr>
          <a:xfrm>
            <a:off x="8246757" y="5111353"/>
            <a:ext cx="3113307" cy="265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CSP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8246757" y="5530155"/>
            <a:ext cx="3113307" cy="258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41" name="Rectangle 40"/>
          <p:cNvSpPr/>
          <p:nvPr/>
        </p:nvSpPr>
        <p:spPr>
          <a:xfrm>
            <a:off x="10896600" y="6444615"/>
            <a:ext cx="1233805" cy="370205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105"/>
            <a:ext cx="10868745" cy="4069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the Genetic Algorithm Works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634" y="1106587"/>
            <a:ext cx="7364427" cy="27635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64021" y="3199252"/>
            <a:ext cx="1110776" cy="2139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Mutation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964139" y="3199252"/>
            <a:ext cx="1110776" cy="2139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Crossover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571866" y="3199252"/>
            <a:ext cx="1110775" cy="2139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79592" y="3092261"/>
            <a:ext cx="1110776" cy="4279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Fitness Evaluation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56887" y="3092261"/>
            <a:ext cx="1110776" cy="4279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Initial Population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3971032"/>
            <a:ext cx="2649868" cy="882352"/>
          </a:xfrm>
          <a:prstGeom prst="roundRect">
            <a:avLst>
              <a:gd name="adj" fmla="val 62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7996" y="4107557"/>
            <a:ext cx="2376825" cy="2034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Initial Population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7996" y="4364831"/>
            <a:ext cx="2376825" cy="3520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Multiple candidate schedules are generated as starting points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01034" y="3971032"/>
            <a:ext cx="2649967" cy="882352"/>
          </a:xfrm>
          <a:prstGeom prst="roundRect">
            <a:avLst>
              <a:gd name="adj" fmla="val 62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37556" y="4107557"/>
            <a:ext cx="2376924" cy="2034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Fitness Evaluation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537556" y="4364831"/>
            <a:ext cx="2376924" cy="3520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Each candidate is scored against all scheduling requirements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40693" y="3971032"/>
            <a:ext cx="2649868" cy="882352"/>
          </a:xfrm>
          <a:prstGeom prst="roundRect">
            <a:avLst>
              <a:gd name="adj" fmla="val 62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7215" y="4107557"/>
            <a:ext cx="2376825" cy="2034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Selection &amp; Crossover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77215" y="4364831"/>
            <a:ext cx="2376825" cy="3520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Better candidates are chosen and combined to create new schedules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880253" y="3971032"/>
            <a:ext cx="2649967" cy="882352"/>
          </a:xfrm>
          <a:prstGeom prst="roundRect">
            <a:avLst>
              <a:gd name="adj" fmla="val 62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16774" y="4107557"/>
            <a:ext cx="2376924" cy="2034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Mutation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016774" y="4364831"/>
            <a:ext cx="2376924" cy="3520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Small changes introduce variation and prevent premature convergence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1475" y="4943078"/>
            <a:ext cx="10868745" cy="706338"/>
          </a:xfrm>
          <a:prstGeom prst="roundRect">
            <a:avLst>
              <a:gd name="adj" fmla="val 774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7996" y="5079603"/>
            <a:ext cx="10595702" cy="2034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Solution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97996" y="5336877"/>
            <a:ext cx="10595702" cy="1760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strongest candidate across all generations is selected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61475" y="5750322"/>
            <a:ext cx="10868745" cy="587573"/>
          </a:xfrm>
          <a:prstGeom prst="roundRect">
            <a:avLst>
              <a:gd name="adj" fmla="val 9310"/>
            </a:avLst>
          </a:prstGeom>
          <a:solidFill>
            <a:srgbClr val="E1E1EA"/>
          </a:solidFill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47" y="5879306"/>
            <a:ext cx="162715" cy="13017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84533" y="5872559"/>
            <a:ext cx="10315515" cy="3520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Why Genetic Algorithm?</a:t>
            </a:r>
            <a:r>
              <a:rPr lang="en-US" sz="10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Timetable optimization involves many interacting scheduling choices. GA explores multiple candidate schedules and improves them iteratively across generations.</a:t>
            </a:r>
            <a:endParaRPr lang="en-US" sz="1000" dirty="0"/>
          </a:p>
        </p:txBody>
      </p:sp>
      <p:sp>
        <p:nvSpPr>
          <p:cNvPr id="41" name="Rectangle 40"/>
          <p:cNvSpPr/>
          <p:nvPr/>
        </p:nvSpPr>
        <p:spPr>
          <a:xfrm>
            <a:off x="10896600" y="6444615"/>
            <a:ext cx="1233805" cy="370205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889"/>
            <a:ext cx="10868745" cy="4430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Fitness Evaluation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28527"/>
            <a:ext cx="11478330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Candidate schedules are scored based on how completely they satisfy all scheduling requirements. Higher fitness signals a better, more constraint-compliant schedule.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42703"/>
            <a:ext cx="3946029" cy="3946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75131" y="1652786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Flow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75131" y="1993801"/>
            <a:ext cx="283461" cy="1772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75131" y="2215654"/>
            <a:ext cx="5261439" cy="1905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8" name="Text 5"/>
          <p:cNvSpPr/>
          <p:nvPr/>
        </p:nvSpPr>
        <p:spPr>
          <a:xfrm>
            <a:off x="6275131" y="2324596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Candidate Schedules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75131" y="2652316"/>
            <a:ext cx="5261439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Multiple population members submitted for scoring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75131" y="3063280"/>
            <a:ext cx="283461" cy="1772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75131" y="3285133"/>
            <a:ext cx="5261439" cy="1905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2" name="Text 9"/>
          <p:cNvSpPr/>
          <p:nvPr/>
        </p:nvSpPr>
        <p:spPr>
          <a:xfrm>
            <a:off x="6275131" y="3394075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Fitness Evaluation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75131" y="3721795"/>
            <a:ext cx="5261439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Each schedule measured against all eight requirement dimensions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75131" y="4132759"/>
            <a:ext cx="283461" cy="1772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75131" y="4354612"/>
            <a:ext cx="5261439" cy="1905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6" name="Text 13"/>
          <p:cNvSpPr/>
          <p:nvPr/>
        </p:nvSpPr>
        <p:spPr>
          <a:xfrm>
            <a:off x="6275131" y="4463554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Compare &amp; Rank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275131" y="4791273"/>
            <a:ext cx="5261439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Candidates ordered by their aggregate fitness score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75131" y="5202238"/>
            <a:ext cx="283461" cy="1772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75131" y="5424091"/>
            <a:ext cx="5261439" cy="1905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20" name="Text 17"/>
          <p:cNvSpPr/>
          <p:nvPr/>
        </p:nvSpPr>
        <p:spPr>
          <a:xfrm>
            <a:off x="6275131" y="5533033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Better Candidates Selected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275131" y="5860752"/>
            <a:ext cx="5261439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Top performers advance to reproduction and next generation</a:t>
            </a:r>
            <a:endParaRPr lang="en-US" sz="1100" dirty="0"/>
          </a:p>
        </p:txBody>
      </p:sp>
      <p:sp>
        <p:nvSpPr>
          <p:cNvPr id="41" name="Rectangle 40"/>
          <p:cNvSpPr/>
          <p:nvPr/>
        </p:nvSpPr>
        <p:spPr>
          <a:xfrm>
            <a:off x="10896600" y="6444615"/>
            <a:ext cx="1233805" cy="370205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129"/>
            <a:ext cx="10868745" cy="4651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 Satisfaction (CSP)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54621"/>
            <a:ext cx="10868745" cy="4256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Genetic Algorithm </a:t>
            </a:r>
            <a:r>
              <a:rPr lang="en-US" sz="11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optimizes</a:t>
            </a: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candidate schedules; Constraint Satisfaction </a:t>
            </a:r>
            <a:r>
              <a:rPr lang="en-US" sz="11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validates</a:t>
            </a: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whether the generated schedule satisfies every required constraint before final output.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29309"/>
            <a:ext cx="3568015" cy="232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Constraints Validated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93640"/>
            <a:ext cx="3568015" cy="5485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5547" y="2461518"/>
            <a:ext cx="3156069" cy="212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✓ No missing subjects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59398"/>
            <a:ext cx="3568015" cy="5485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5547" y="3127276"/>
            <a:ext cx="3156069" cy="212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✓ No overlapping time slots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625155"/>
            <a:ext cx="3568015" cy="5485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5547" y="3793034"/>
            <a:ext cx="3156069" cy="212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✓ Adequate breaks included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290913"/>
            <a:ext cx="3568015" cy="5485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5547" y="4458791"/>
            <a:ext cx="3156069" cy="212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✓ No excessive consecutive study sessions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956671"/>
            <a:ext cx="3568015" cy="5485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5547" y="5124549"/>
            <a:ext cx="3156069" cy="212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✓ Subject hours not exceeded</a:t>
            </a:r>
            <a:endParaRPr lang="en-US" sz="11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5622429"/>
            <a:ext cx="3568015" cy="5485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05547" y="5790307"/>
            <a:ext cx="3156069" cy="212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✓ Daily time capacity respected</a:t>
            </a:r>
            <a:endParaRPr lang="en-US" sz="1150" dirty="0"/>
          </a:p>
        </p:txBody>
      </p:sp>
      <p:sp>
        <p:nvSpPr>
          <p:cNvPr id="17" name="Text 9"/>
          <p:cNvSpPr/>
          <p:nvPr/>
        </p:nvSpPr>
        <p:spPr>
          <a:xfrm>
            <a:off x="4598972" y="2126059"/>
            <a:ext cx="6937499" cy="232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Daily Study Window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4598972" y="2475706"/>
            <a:ext cx="6937499" cy="930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850" dirty="0">
                <a:solidFill>
                  <a:srgbClr val="00A8C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08:00 – 24:00</a:t>
            </a:r>
            <a:endParaRPr lang="en-US" sz="58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692" y="3537843"/>
            <a:ext cx="5549960" cy="243631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234196" y="5298903"/>
            <a:ext cx="972845" cy="150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 Optimization</a:t>
            </a:r>
            <a:endParaRPr lang="en-US" sz="900" dirty="0"/>
          </a:p>
        </p:txBody>
      </p:sp>
      <p:sp>
        <p:nvSpPr>
          <p:cNvPr id="21" name="Text 12"/>
          <p:cNvSpPr/>
          <p:nvPr/>
        </p:nvSpPr>
        <p:spPr>
          <a:xfrm>
            <a:off x="6234196" y="5492007"/>
            <a:ext cx="972845" cy="2149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Optimize candidate schedules</a:t>
            </a:r>
            <a:endParaRPr lang="en-US" sz="750" dirty="0"/>
          </a:p>
        </p:txBody>
      </p:sp>
      <p:sp>
        <p:nvSpPr>
          <p:cNvPr id="22" name="Text 13"/>
          <p:cNvSpPr/>
          <p:nvPr/>
        </p:nvSpPr>
        <p:spPr>
          <a:xfrm>
            <a:off x="8965646" y="5111145"/>
            <a:ext cx="972846" cy="300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Validated Schedule</a:t>
            </a:r>
            <a:endParaRPr lang="en-US" sz="900" dirty="0"/>
          </a:p>
        </p:txBody>
      </p:sp>
      <p:sp>
        <p:nvSpPr>
          <p:cNvPr id="23" name="Text 14"/>
          <p:cNvSpPr/>
          <p:nvPr/>
        </p:nvSpPr>
        <p:spPr>
          <a:xfrm>
            <a:off x="8965646" y="5454589"/>
            <a:ext cx="972846" cy="2149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Final schedule ready for output</a:t>
            </a:r>
            <a:endParaRPr lang="en-US" sz="750" dirty="0"/>
          </a:p>
        </p:txBody>
      </p:sp>
      <p:sp>
        <p:nvSpPr>
          <p:cNvPr id="24" name="Text 15"/>
          <p:cNvSpPr/>
          <p:nvPr/>
        </p:nvSpPr>
        <p:spPr>
          <a:xfrm>
            <a:off x="7607939" y="3793327"/>
            <a:ext cx="972845" cy="150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CSP Checking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7607939" y="3986431"/>
            <a:ext cx="972845" cy="2149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Validate all required constraints</a:t>
            </a:r>
            <a:endParaRPr lang="en-US" sz="750" dirty="0"/>
          </a:p>
        </p:txBody>
      </p:sp>
      <p:sp>
        <p:nvSpPr>
          <p:cNvPr id="41" name="Rectangle 40"/>
          <p:cNvSpPr/>
          <p:nvPr/>
        </p:nvSpPr>
        <p:spPr>
          <a:xfrm>
            <a:off x="10896600" y="6444615"/>
            <a:ext cx="1233805" cy="370205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0277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 &amp; Technology Stack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565077"/>
            <a:ext cx="5811791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 Architecture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12680" y="2164159"/>
            <a:ext cx="151206" cy="680343"/>
          </a:xfrm>
          <a:prstGeom prst="roundRect">
            <a:avLst>
              <a:gd name="adj" fmla="val 4200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6036" y="2088555"/>
            <a:ext cx="523723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Tkinter GUI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36036" y="2445742"/>
            <a:ext cx="5237230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Desktop interface for all user interactions and results display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39489" y="3192363"/>
            <a:ext cx="151206" cy="680343"/>
          </a:xfrm>
          <a:prstGeom prst="roundRect">
            <a:avLst>
              <a:gd name="adj" fmla="val 4200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2845" y="3116759"/>
            <a:ext cx="501042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/ Configuration Layer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62845" y="3473946"/>
            <a:ext cx="5010422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Subject management, GA parameters, and study preferences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66297" y="4220567"/>
            <a:ext cx="151206" cy="680343"/>
          </a:xfrm>
          <a:prstGeom prst="roundRect">
            <a:avLst>
              <a:gd name="adj" fmla="val 4200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9653" y="4144963"/>
            <a:ext cx="4783613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Genetic Algorithm Engine + Fitness Evaluation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689653" y="4502150"/>
            <a:ext cx="4783613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Core optimization: population management, crossover, mutation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493106" y="5248771"/>
            <a:ext cx="151206" cy="680343"/>
          </a:xfrm>
          <a:prstGeom prst="roundRect">
            <a:avLst>
              <a:gd name="adj" fmla="val 4200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16461" y="5173166"/>
            <a:ext cx="4556805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CSP Validator → Results &amp; Visualizations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916461" y="5530354"/>
            <a:ext cx="4556805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Constraint checking, timetable output, and Matplotlib graphs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39662" y="1444129"/>
            <a:ext cx="4905649" cy="4623495"/>
          </a:xfrm>
          <a:prstGeom prst="roundRect">
            <a:avLst>
              <a:gd name="adj" fmla="val 2355"/>
            </a:avLst>
          </a:prstGeom>
          <a:solidFill>
            <a:srgbClr val="1E3A5F">
              <a:alpha val="95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890867" y="1565077"/>
            <a:ext cx="4603238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890867" y="1937345"/>
            <a:ext cx="2241097" cy="88999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8423" y="2094905"/>
            <a:ext cx="192598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048423" y="2452092"/>
            <a:ext cx="1925986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Core application language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252909" y="1937345"/>
            <a:ext cx="2241196" cy="88999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0465" y="2094905"/>
            <a:ext cx="1926085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Tkinter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10465" y="2452092"/>
            <a:ext cx="1926085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Desktop GUI framework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90867" y="2948285"/>
            <a:ext cx="2241097" cy="1107678"/>
          </a:xfrm>
          <a:prstGeom prst="roundRect">
            <a:avLst>
              <a:gd name="adj" fmla="val 57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8423" y="3105845"/>
            <a:ext cx="1925986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NumPy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048423" y="3463032"/>
            <a:ext cx="1925986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Numerical &amp; computational support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52909" y="2948285"/>
            <a:ext cx="2241196" cy="1107678"/>
          </a:xfrm>
          <a:prstGeom prst="roundRect">
            <a:avLst>
              <a:gd name="adj" fmla="val 57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0465" y="3105845"/>
            <a:ext cx="1926085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Matplotlib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410465" y="3463032"/>
            <a:ext cx="1926085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Graphs &amp; visualizations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90867" y="4176911"/>
            <a:ext cx="4603238" cy="88999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8423" y="4334470"/>
            <a:ext cx="4288127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Standard Library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048423" y="4691658"/>
            <a:ext cx="4288127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Supporting functionality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90867" y="5202932"/>
            <a:ext cx="4603238" cy="728663"/>
          </a:xfrm>
          <a:prstGeom prst="roundRect">
            <a:avLst>
              <a:gd name="adj" fmla="val 8716"/>
            </a:avLst>
          </a:prstGeom>
          <a:solidFill>
            <a:srgbClr val="34344B"/>
          </a:solidFill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2073" y="5388074"/>
            <a:ext cx="189007" cy="151209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382286" y="5349577"/>
            <a:ext cx="3960614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No Database · No API · No Cloud Backend · No External Credentials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61475" y="2064841"/>
            <a:ext cx="453617" cy="453628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879" y="2178248"/>
            <a:ext cx="226808" cy="226814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888283" y="3093045"/>
            <a:ext cx="453617" cy="453628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687" y="3206452"/>
            <a:ext cx="226808" cy="226814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1115092" y="4121249"/>
            <a:ext cx="453617" cy="453628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28496" y="4234656"/>
            <a:ext cx="226808" cy="226814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1341900" y="5149453"/>
            <a:ext cx="453617" cy="453628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55304" y="5262860"/>
            <a:ext cx="226808" cy="226814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0896600" y="6444615"/>
            <a:ext cx="1233805" cy="370205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53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 Workflow &amp; Key Features</a:t>
            </a:r>
            <a:endParaRPr lang="en-US" sz="3200" dirty="0">
              <a:solidFill>
                <a:srgbClr val="1B1B27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043384"/>
            <a:ext cx="5296264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9-Step User Workflow</a:t>
            </a:r>
            <a:endParaRPr lang="en-US" sz="1600" dirty="0">
              <a:solidFill>
                <a:srgbClr val="1B1B27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296591"/>
            <a:ext cx="226511" cy="14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200" dirty="0">
              <a:solidFill>
                <a:srgbClr val="3C3939"/>
              </a:solidFill>
              <a:latin typeface="Raleway Light" pitchFamily="34" charset="0"/>
              <a:ea typeface="Raleway Light" pitchFamily="34" charset="-122"/>
              <a:cs typeface="Raleway Light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61475" y="1476276"/>
            <a:ext cx="5296264" cy="1270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6" name="Text 4"/>
          <p:cNvSpPr/>
          <p:nvPr/>
        </p:nvSpPr>
        <p:spPr>
          <a:xfrm>
            <a:off x="661475" y="1558230"/>
            <a:ext cx="5296264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Add subjects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1475" y="1855986"/>
            <a:ext cx="226511" cy="14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200" dirty="0">
              <a:solidFill>
                <a:srgbClr val="3C3939"/>
              </a:solidFill>
              <a:latin typeface="Raleway Light" pitchFamily="34" charset="0"/>
              <a:ea typeface="Raleway Light" pitchFamily="34" charset="-122"/>
              <a:cs typeface="Raleway Light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61475" y="2035671"/>
            <a:ext cx="5296264" cy="1270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9" name="Text 7"/>
          <p:cNvSpPr/>
          <p:nvPr/>
        </p:nvSpPr>
        <p:spPr>
          <a:xfrm>
            <a:off x="661475" y="2117626"/>
            <a:ext cx="5296264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Enter required study hours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1475" y="2415381"/>
            <a:ext cx="226511" cy="14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200" dirty="0">
              <a:solidFill>
                <a:srgbClr val="3C3939"/>
              </a:solidFill>
              <a:latin typeface="Raleway Light" pitchFamily="34" charset="0"/>
              <a:ea typeface="Raleway Light" pitchFamily="34" charset="-122"/>
              <a:cs typeface="Raleway Light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1475" y="2595066"/>
            <a:ext cx="5296264" cy="1270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2" name="Text 10"/>
          <p:cNvSpPr/>
          <p:nvPr/>
        </p:nvSpPr>
        <p:spPr>
          <a:xfrm>
            <a:off x="661475" y="2677021"/>
            <a:ext cx="5296264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Set priority level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1475" y="2974777"/>
            <a:ext cx="226511" cy="14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200" dirty="0">
              <a:solidFill>
                <a:srgbClr val="3C3939"/>
              </a:solidFill>
              <a:latin typeface="Raleway Light" pitchFamily="34" charset="0"/>
              <a:ea typeface="Raleway Light" pitchFamily="34" charset="-122"/>
              <a:cs typeface="Raleway Light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1475" y="3154462"/>
            <a:ext cx="5296264" cy="1270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5" name="Text 13"/>
          <p:cNvSpPr/>
          <p:nvPr/>
        </p:nvSpPr>
        <p:spPr>
          <a:xfrm>
            <a:off x="661475" y="3236416"/>
            <a:ext cx="5296264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Set difficulty level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1475" y="3534172"/>
            <a:ext cx="226511" cy="14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200" dirty="0">
              <a:solidFill>
                <a:srgbClr val="3C3939"/>
              </a:solidFill>
              <a:latin typeface="Raleway Light" pitchFamily="34" charset="0"/>
              <a:ea typeface="Raleway Light" pitchFamily="34" charset="-122"/>
              <a:cs typeface="Raleway Light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61475" y="3713857"/>
            <a:ext cx="5296264" cy="1270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8" name="Text 16"/>
          <p:cNvSpPr/>
          <p:nvPr/>
        </p:nvSpPr>
        <p:spPr>
          <a:xfrm>
            <a:off x="661475" y="3795812"/>
            <a:ext cx="5296264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Select preferred study time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1475" y="4093567"/>
            <a:ext cx="226511" cy="14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200" dirty="0">
              <a:solidFill>
                <a:srgbClr val="3C3939"/>
              </a:solidFill>
              <a:latin typeface="Raleway Light" pitchFamily="34" charset="0"/>
              <a:ea typeface="Raleway Light" pitchFamily="34" charset="-122"/>
              <a:cs typeface="Raleway Light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1475" y="4273252"/>
            <a:ext cx="5296264" cy="1270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21" name="Text 19"/>
          <p:cNvSpPr/>
          <p:nvPr/>
        </p:nvSpPr>
        <p:spPr>
          <a:xfrm>
            <a:off x="661475" y="4355207"/>
            <a:ext cx="5296264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Configure GA parameters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1475" y="4652963"/>
            <a:ext cx="226511" cy="14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07</a:t>
            </a:r>
            <a:endParaRPr lang="en-US" sz="1200" dirty="0">
              <a:solidFill>
                <a:srgbClr val="3C3939"/>
              </a:solidFill>
              <a:latin typeface="Raleway Light" pitchFamily="34" charset="0"/>
              <a:ea typeface="Raleway Light" pitchFamily="34" charset="-122"/>
              <a:cs typeface="Raleway Light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61475" y="4832648"/>
            <a:ext cx="5296264" cy="1270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24" name="Text 22"/>
          <p:cNvSpPr/>
          <p:nvPr/>
        </p:nvSpPr>
        <p:spPr>
          <a:xfrm>
            <a:off x="661475" y="4914602"/>
            <a:ext cx="5296264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Generate optimized schedule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1475" y="5212358"/>
            <a:ext cx="226511" cy="14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08</a:t>
            </a:r>
            <a:endParaRPr lang="en-US" sz="1200" dirty="0">
              <a:solidFill>
                <a:srgbClr val="3C3939"/>
              </a:solidFill>
              <a:latin typeface="Raleway Light" pitchFamily="34" charset="0"/>
              <a:ea typeface="Raleway Light" pitchFamily="34" charset="-122"/>
              <a:cs typeface="Raleway Light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1475" y="5392043"/>
            <a:ext cx="5296264" cy="1270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27" name="Text 25"/>
          <p:cNvSpPr/>
          <p:nvPr/>
        </p:nvSpPr>
        <p:spPr>
          <a:xfrm>
            <a:off x="661475" y="5473998"/>
            <a:ext cx="5296264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Validate constraints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1475" y="5771753"/>
            <a:ext cx="226511" cy="141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09</a:t>
            </a:r>
            <a:endParaRPr lang="en-US" sz="1200" dirty="0">
              <a:solidFill>
                <a:srgbClr val="3C3939"/>
              </a:solidFill>
              <a:latin typeface="Raleway Light" pitchFamily="34" charset="0"/>
              <a:ea typeface="Raleway Light" pitchFamily="34" charset="-122"/>
              <a:cs typeface="Raleway Light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61475" y="5951438"/>
            <a:ext cx="5296264" cy="1270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30" name="Text 28"/>
          <p:cNvSpPr/>
          <p:nvPr/>
        </p:nvSpPr>
        <p:spPr>
          <a:xfrm>
            <a:off x="661475" y="6033393"/>
            <a:ext cx="5296264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Analyze results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40306" y="1043384"/>
            <a:ext cx="5296264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Application Features</a:t>
            </a:r>
            <a:endParaRPr lang="en-US" sz="1600" dirty="0">
              <a:solidFill>
                <a:srgbClr val="1B1B27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40306" y="1296591"/>
            <a:ext cx="2614150" cy="786507"/>
          </a:xfrm>
          <a:prstGeom prst="roundRect">
            <a:avLst>
              <a:gd name="adj" fmla="val 604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6212" y="1422499"/>
            <a:ext cx="2362339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Subject Management</a:t>
            </a:r>
            <a:endParaRPr lang="en-US" sz="1600" dirty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66212" y="1667272"/>
            <a:ext cx="2362339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Add, configure, and manage all study subjects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922321" y="1296591"/>
            <a:ext cx="2614249" cy="786507"/>
          </a:xfrm>
          <a:prstGeom prst="roundRect">
            <a:avLst>
              <a:gd name="adj" fmla="val 604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48226" y="1422499"/>
            <a:ext cx="2362439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 Configuration</a:t>
            </a:r>
            <a:endParaRPr lang="en-US" sz="1600" dirty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048226" y="1667272"/>
            <a:ext cx="2362439" cy="2899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Tune population size, generations, and mutation rate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40306" y="2150963"/>
            <a:ext cx="2614150" cy="786507"/>
          </a:xfrm>
          <a:prstGeom prst="roundRect">
            <a:avLst>
              <a:gd name="adj" fmla="val 604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6212" y="2276872"/>
            <a:ext cx="2362339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Timetable Visualization</a:t>
            </a:r>
            <a:endParaRPr lang="en-US" sz="1600" dirty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66212" y="2521645"/>
            <a:ext cx="2362339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Optimized daily schedule rendered graphically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922321" y="2150963"/>
            <a:ext cx="2614249" cy="786507"/>
          </a:xfrm>
          <a:prstGeom prst="roundRect">
            <a:avLst>
              <a:gd name="adj" fmla="val 604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48226" y="2276872"/>
            <a:ext cx="2362439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Fitness Progress Graph</a:t>
            </a:r>
            <a:endParaRPr lang="en-US" sz="1600" dirty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048226" y="2521645"/>
            <a:ext cx="2362439" cy="2899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Matplotlib chart showing improvement across generations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40306" y="3005336"/>
            <a:ext cx="2614150" cy="786507"/>
          </a:xfrm>
          <a:prstGeom prst="roundRect">
            <a:avLst>
              <a:gd name="adj" fmla="val 604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66212" y="3131245"/>
            <a:ext cx="2362339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CSP Analysis Report</a:t>
            </a:r>
            <a:endParaRPr lang="en-US" sz="1600" dirty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366212" y="3376017"/>
            <a:ext cx="2362339" cy="2899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Detailed constraint satisfaction validation output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922321" y="3005336"/>
            <a:ext cx="2614249" cy="786507"/>
          </a:xfrm>
          <a:prstGeom prst="roundRect">
            <a:avLst>
              <a:gd name="adj" fmla="val 604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48226" y="3131245"/>
            <a:ext cx="2362439" cy="176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Overflow Detection</a:t>
            </a:r>
            <a:endParaRPr lang="en-US" sz="1600" dirty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048226" y="3376017"/>
            <a:ext cx="2362439" cy="2899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Subject-hour summary and schedule overflow reporting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410165" y="3929162"/>
            <a:ext cx="5735990" cy="144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endParaRPr lang="en-US" sz="1200" i="1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896600" y="6444615"/>
            <a:ext cx="1233805" cy="370205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761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Outputs, Challenges &amp; Future Enhancements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65560"/>
            <a:ext cx="524993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Outputs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37829"/>
            <a:ext cx="378014" cy="378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0694" y="1837829"/>
            <a:ext cx="472071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Optimized Daily Timetable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90694" y="2195016"/>
            <a:ext cx="4720710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Complete validated schedule for the study window 08:00–24:00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54598"/>
            <a:ext cx="378014" cy="378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0694" y="2654598"/>
            <a:ext cx="472071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Fitness Progression Graph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190694" y="3011785"/>
            <a:ext cx="4720710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Visual GA improvement across generations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71366"/>
            <a:ext cx="378014" cy="3780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90694" y="3471366"/>
            <a:ext cx="472071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CSP Validation Results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190694" y="3828554"/>
            <a:ext cx="4720710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Detailed constraint satisfaction analysis report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288135"/>
            <a:ext cx="378014" cy="3780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90694" y="4288135"/>
            <a:ext cx="472071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Subject-Hour Summary &amp; Overflow Info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90694" y="4645323"/>
            <a:ext cx="4720710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Distribution analysis and overflow detection output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286640" y="1465560"/>
            <a:ext cx="524993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Challenges &amp; Approach</a:t>
            </a:r>
            <a:endParaRPr lang="en-US" sz="14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6286640" y="1837829"/>
          <a:ext cx="9143771" cy="2284354"/>
        </p:xfrm>
        <a:graphic>
          <a:graphicData uri="http://schemas.openxmlformats.org/drawingml/2006/table">
            <a:tbl>
              <a:tblPr/>
              <a:tblGrid>
                <a:gridCol w="2624965"/>
                <a:gridCol w="2624965"/>
              </a:tblGrid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Challenge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Approach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Multiple scheduling requirements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GA-based optimization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Daily 08:00–24:00 capacity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Overflow detection &amp; reporting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Consecutive session limits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CSP validation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Break management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Constraint checking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Schedule validation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anose="02000000000000000000" pitchFamily="34" charset="0"/>
                          <a:ea typeface="Roboto" panose="02000000000000000000" pitchFamily="34" charset="-122"/>
                          <a:cs typeface="Roboto" panose="02000000000000000000" pitchFamily="34" charset="-120"/>
                        </a:rPr>
                        <a:t>CSP applied post-optimization</a:t>
                      </a:r>
                      <a:endParaRPr lang="en-US" sz="1150" dirty="0">
                        <a:latin typeface="Roboto" panose="02000000000000000000" pitchFamily="34" charset="0"/>
                        <a:ea typeface="Roboto" panose="02000000000000000000" pitchFamily="34" charset="0"/>
                        <a:cs typeface="Roboto" panose="02000000000000000000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18" name="Shape 11"/>
          <p:cNvSpPr/>
          <p:nvPr/>
        </p:nvSpPr>
        <p:spPr>
          <a:xfrm>
            <a:off x="6286640" y="4308773"/>
            <a:ext cx="5249930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</p:spPr>
      </p:sp>
      <p:sp>
        <p:nvSpPr>
          <p:cNvPr id="19" name="Shape 12"/>
          <p:cNvSpPr/>
          <p:nvPr/>
        </p:nvSpPr>
        <p:spPr>
          <a:xfrm>
            <a:off x="6286640" y="4501654"/>
            <a:ext cx="3161427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377324" y="4546997"/>
            <a:ext cx="3589645" cy="1390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FUTURE ENHANCEMENTS — NOT CURRENT FEATURES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6286640" y="4867374"/>
            <a:ext cx="5249930" cy="1257498"/>
          </a:xfrm>
          <a:prstGeom prst="rect">
            <a:avLst/>
          </a:prstGeom>
          <a:noFill/>
        </p:spPr>
        <p:txBody>
          <a:bodyPr wrap="square" lIns="0" tIns="60486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Multi-day scheduling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User profiles &amp; persistent storage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Calendar integration &amp; PDF / Excel export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Notifications, reminders &amp; advanced constraint repair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Comprehensive testing suite</a:t>
            </a:r>
            <a:endParaRPr lang="en-US" sz="1150" dirty="0"/>
          </a:p>
        </p:txBody>
      </p:sp>
      <p:sp>
        <p:nvSpPr>
          <p:cNvPr id="41" name="Rectangle 40"/>
          <p:cNvSpPr/>
          <p:nvPr/>
        </p:nvSpPr>
        <p:spPr>
          <a:xfrm>
            <a:off x="10896600" y="6444615"/>
            <a:ext cx="1233805" cy="370205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6984"/>
            <a:ext cx="10868745" cy="5611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39280"/>
            <a:ext cx="10868745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AI Smart Study Planner combines Genetic Algorithm optimization, Constraint Satisfaction validation, and visualization to automatically generate and validate optimized daily study schedules.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291358"/>
            <a:ext cx="10868745" cy="2056408"/>
          </a:xfrm>
          <a:prstGeom prst="roundRect">
            <a:avLst>
              <a:gd name="adj" fmla="val 3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297708"/>
            <a:ext cx="5428023" cy="1021854"/>
          </a:xfrm>
          <a:custGeom>
            <a:avLst/>
            <a:gdLst/>
            <a:ahLst/>
            <a:cxnLst/>
            <a:rect l="l" t="t" r="r" b="b"/>
            <a:pathLst>
              <a:path w="5428023" h="1021854">
                <a:moveTo>
                  <a:pt x="62849" y="0"/>
                </a:moveTo>
                <a:lnTo>
                  <a:pt x="5428023" y="0"/>
                </a:lnTo>
                <a:lnTo>
                  <a:pt x="5428023" y="1021854"/>
                </a:lnTo>
                <a:lnTo>
                  <a:pt x="0" y="1021854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E1E1EA"/>
          </a:solidFill>
        </p:spPr>
      </p:sp>
      <p:sp>
        <p:nvSpPr>
          <p:cNvPr id="6" name="Text 4"/>
          <p:cNvSpPr/>
          <p:nvPr/>
        </p:nvSpPr>
        <p:spPr>
          <a:xfrm>
            <a:off x="847307" y="2477195"/>
            <a:ext cx="5069058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Genetic Algorithm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47307" y="2859980"/>
            <a:ext cx="5069058" cy="2800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Optimization &amp; Search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48" y="2297708"/>
            <a:ext cx="5428023" cy="1021854"/>
          </a:xfrm>
          <a:custGeom>
            <a:avLst/>
            <a:gdLst/>
            <a:ahLst/>
            <a:cxnLst/>
            <a:rect l="l" t="t" r="r" b="b"/>
            <a:pathLst>
              <a:path w="5428023" h="1021854">
                <a:moveTo>
                  <a:pt x="0" y="0"/>
                </a:moveTo>
                <a:lnTo>
                  <a:pt x="5365174" y="0"/>
                </a:lnTo>
                <a:arcTo wR="62849" hR="62850" stAng="16200000" swAng="5400000"/>
                <a:lnTo>
                  <a:pt x="5428023" y="1021854"/>
                </a:lnTo>
                <a:lnTo>
                  <a:pt x="0" y="1021854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9" name="Shape 7"/>
          <p:cNvSpPr/>
          <p:nvPr/>
        </p:nvSpPr>
        <p:spPr>
          <a:xfrm>
            <a:off x="6095848" y="2297708"/>
            <a:ext cx="25399" cy="1021854"/>
          </a:xfrm>
          <a:prstGeom prst="roundRect">
            <a:avLst>
              <a:gd name="adj" fmla="val 50001"/>
            </a:avLst>
          </a:prstGeom>
          <a:solidFill>
            <a:srgbClr val="C7C7D0"/>
          </a:solidFill>
        </p:spPr>
      </p:sp>
      <p:sp>
        <p:nvSpPr>
          <p:cNvPr id="10" name="Text 8"/>
          <p:cNvSpPr/>
          <p:nvPr/>
        </p:nvSpPr>
        <p:spPr>
          <a:xfrm>
            <a:off x="6275330" y="2477195"/>
            <a:ext cx="5069058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 Satisfaction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275330" y="2859980"/>
            <a:ext cx="5069058" cy="2800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Validation &amp; Checking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825" y="3319562"/>
            <a:ext cx="5428023" cy="1021854"/>
          </a:xfrm>
          <a:custGeom>
            <a:avLst/>
            <a:gdLst/>
            <a:ahLst/>
            <a:cxnLst/>
            <a:rect l="l" t="t" r="r" b="b"/>
            <a:pathLst>
              <a:path w="5428023" h="1021854">
                <a:moveTo>
                  <a:pt x="0" y="0"/>
                </a:moveTo>
                <a:lnTo>
                  <a:pt x="5428023" y="0"/>
                </a:lnTo>
                <a:lnTo>
                  <a:pt x="5428023" y="1021854"/>
                </a:lnTo>
                <a:lnTo>
                  <a:pt x="62849" y="1021854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13" name="Shape 11"/>
          <p:cNvSpPr/>
          <p:nvPr/>
        </p:nvSpPr>
        <p:spPr>
          <a:xfrm>
            <a:off x="667825" y="3319562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</p:spPr>
      </p:sp>
      <p:sp>
        <p:nvSpPr>
          <p:cNvPr id="14" name="Text 12"/>
          <p:cNvSpPr/>
          <p:nvPr/>
        </p:nvSpPr>
        <p:spPr>
          <a:xfrm>
            <a:off x="847307" y="3499048"/>
            <a:ext cx="5069058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47307" y="3881834"/>
            <a:ext cx="5069058" cy="2800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Analysis &amp; Reporting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5848" y="3319562"/>
            <a:ext cx="5428023" cy="1021854"/>
          </a:xfrm>
          <a:custGeom>
            <a:avLst/>
            <a:gdLst/>
            <a:ahLst/>
            <a:cxnLst/>
            <a:rect l="l" t="t" r="r" b="b"/>
            <a:pathLst>
              <a:path w="5428023" h="1021854">
                <a:moveTo>
                  <a:pt x="0" y="0"/>
                </a:moveTo>
                <a:lnTo>
                  <a:pt x="5428023" y="0"/>
                </a:lnTo>
                <a:lnTo>
                  <a:pt x="5428023" y="959004"/>
                </a:lnTo>
                <a:arcTo wR="62849" hR="62850" stAng="0" swAng="5400000"/>
                <a:lnTo>
                  <a:pt x="0" y="1021854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17" name="Shape 15"/>
          <p:cNvSpPr/>
          <p:nvPr/>
        </p:nvSpPr>
        <p:spPr>
          <a:xfrm>
            <a:off x="6095848" y="3319562"/>
            <a:ext cx="25399" cy="1021854"/>
          </a:xfrm>
          <a:prstGeom prst="roundRect">
            <a:avLst>
              <a:gd name="adj" fmla="val 50001"/>
            </a:avLst>
          </a:prstGeom>
          <a:solidFill>
            <a:srgbClr val="C7C7D0"/>
          </a:solidFill>
        </p:spPr>
      </p:sp>
      <p:sp>
        <p:nvSpPr>
          <p:cNvPr id="18" name="Shape 16"/>
          <p:cNvSpPr/>
          <p:nvPr/>
        </p:nvSpPr>
        <p:spPr>
          <a:xfrm>
            <a:off x="6095848" y="3319562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</p:spPr>
      </p:sp>
      <p:sp>
        <p:nvSpPr>
          <p:cNvPr id="19" name="Text 17"/>
          <p:cNvSpPr/>
          <p:nvPr/>
        </p:nvSpPr>
        <p:spPr>
          <a:xfrm>
            <a:off x="6275330" y="3499048"/>
            <a:ext cx="5069058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= Optimized &amp; Validated Study Schedule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275330" y="3881834"/>
            <a:ext cx="5069058" cy="2800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Automated · Constraint-Compliant · Transparent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1475" y="4584502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61475" y="4910634"/>
            <a:ext cx="10868745" cy="7744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</a:t>
            </a:r>
            <a:endParaRPr lang="en-US" sz="4850" dirty="0"/>
          </a:p>
        </p:txBody>
      </p:sp>
      <p:sp>
        <p:nvSpPr>
          <p:cNvPr id="23" name="Text 21"/>
          <p:cNvSpPr/>
          <p:nvPr/>
        </p:nvSpPr>
        <p:spPr>
          <a:xfrm>
            <a:off x="356682" y="5940921"/>
            <a:ext cx="11478330" cy="2800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41" name="Rectangle 40"/>
          <p:cNvSpPr/>
          <p:nvPr/>
        </p:nvSpPr>
        <p:spPr>
          <a:xfrm>
            <a:off x="10896600" y="6444615"/>
            <a:ext cx="1233805" cy="370205"/>
          </a:xfrm>
          <a:prstGeom prst="rect">
            <a:avLst/>
          </a:prstGeom>
          <a:solidFill>
            <a:srgbClr val="FEFEFE"/>
          </a:solidFill>
          <a:ln>
            <a:solidFill>
              <a:srgbClr val="FEFE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6025</Words>
  <Application>WPS Presentation</Application>
  <PresentationFormat>On-screen Show (16:9)</PresentationFormat>
  <Paragraphs>374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2" baseType="lpstr">
      <vt:lpstr>Arial</vt:lpstr>
      <vt:lpstr>SimSun</vt:lpstr>
      <vt:lpstr>Wingdings</vt:lpstr>
      <vt:lpstr>Raleway</vt:lpstr>
      <vt:lpstr>Raleway</vt:lpstr>
      <vt:lpstr>Raleway</vt:lpstr>
      <vt:lpstr>Roboto</vt:lpstr>
      <vt:lpstr>Roboto</vt:lpstr>
      <vt:lpstr>Roboto</vt:lpstr>
      <vt:lpstr>Roboto Bold</vt:lpstr>
      <vt:lpstr>Roboto Bold</vt:lpstr>
      <vt:lpstr>Roboto Bold</vt:lpstr>
      <vt:lpstr>Raleway Light</vt:lpstr>
      <vt:lpstr>Segoe Print</vt:lpstr>
      <vt:lpstr>Raleway Light</vt:lpstr>
      <vt:lpstr>Raleway Light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1000</cp:lastModifiedBy>
  <cp:revision>10</cp:revision>
  <dcterms:created xsi:type="dcterms:W3CDTF">2026-08-28T17:43:00Z</dcterms:created>
  <dcterms:modified xsi:type="dcterms:W3CDTF">2026-08-29T07:12:17Z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5FA300114CEB43B4BD21B8240F2A2B8C_13</vt:lpwstr>
  </property>
  <property fmtid="{D5CDD505-2E9C-101B-9397-08002B2CF9AE}" pid="3" name="KSOProductBuildVer">
    <vt:lpwstr>1033-12.1.0.28032</vt:lpwstr>
  </property>
</Properties>
</file>