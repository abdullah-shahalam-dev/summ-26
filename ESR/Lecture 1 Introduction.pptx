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259" r:id="rId2"/>
    <p:sldId id="302" r:id="rId3"/>
    <p:sldId id="291" r:id="rId4"/>
    <p:sldId id="303" r:id="rId5"/>
    <p:sldId id="304" r:id="rId6"/>
    <p:sldId id="305" r:id="rId7"/>
    <p:sldId id="306" r:id="rId8"/>
    <p:sldId id="307" r:id="rId9"/>
    <p:sldId id="308" r:id="rId10"/>
    <p:sldId id="282" r:id="rId11"/>
    <p:sldId id="268" r:id="rId12"/>
    <p:sldId id="281" r:id="rId13"/>
    <p:sldId id="267" r:id="rId14"/>
    <p:sldId id="277" r:id="rId15"/>
    <p:sldId id="290" r:id="rId16"/>
    <p:sldId id="284" r:id="rId17"/>
    <p:sldId id="289" r:id="rId18"/>
    <p:sldId id="285" r:id="rId19"/>
    <p:sldId id="286" r:id="rId20"/>
    <p:sldId id="287" r:id="rId21"/>
    <p:sldId id="288" r:id="rId22"/>
    <p:sldId id="275" r:id="rId23"/>
    <p:sldId id="264" r:id="rId24"/>
    <p:sldId id="298" r:id="rId25"/>
    <p:sldId id="299" r:id="rId26"/>
    <p:sldId id="300" r:id="rId27"/>
    <p:sldId id="301" r:id="rId28"/>
    <p:sldId id="294" r:id="rId29"/>
    <p:sldId id="295" r:id="rId3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Untitled Section" id="{B10DF405-023A-4393-A8B1-127001A90CE1}">
          <p14:sldIdLst>
            <p14:sldId id="259"/>
            <p14:sldId id="302"/>
            <p14:sldId id="291"/>
            <p14:sldId id="303"/>
            <p14:sldId id="304"/>
            <p14:sldId id="305"/>
            <p14:sldId id="306"/>
            <p14:sldId id="307"/>
            <p14:sldId id="308"/>
            <p14:sldId id="282"/>
            <p14:sldId id="268"/>
            <p14:sldId id="281"/>
            <p14:sldId id="267"/>
            <p14:sldId id="277"/>
            <p14:sldId id="290"/>
            <p14:sldId id="284"/>
            <p14:sldId id="289"/>
            <p14:sldId id="285"/>
            <p14:sldId id="286"/>
            <p14:sldId id="287"/>
            <p14:sldId id="288"/>
            <p14:sldId id="275"/>
            <p14:sldId id="264"/>
            <p14:sldId id="298"/>
            <p14:sldId id="299"/>
            <p14:sldId id="300"/>
            <p14:sldId id="301"/>
            <p14:sldId id="294"/>
            <p14:sldId id="295"/>
          </p14:sldIdLst>
        </p14:section>
      </p14:sectionLst>
    </p:ex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C66"/>
    <a:srgbClr val="FFFF66"/>
    <a:srgbClr val="FFFF99"/>
    <a:srgbClr val="497B76"/>
    <a:srgbClr val="4D837D"/>
    <a:srgbClr val="498781"/>
    <a:srgbClr val="497287"/>
    <a:srgbClr val="57854B"/>
    <a:srgbClr val="567A5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1" autoAdjust="0"/>
    <p:restoredTop sz="94660"/>
  </p:normalViewPr>
  <p:slideViewPr>
    <p:cSldViewPr>
      <p:cViewPr>
        <p:scale>
          <a:sx n="72" d="100"/>
          <a:sy n="72" d="100"/>
        </p:scale>
        <p:origin x="-2754" y="-92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981D4E-7733-4EE0-A3DD-F5946818A9BA}" type="datetimeFigureOut">
              <a:rPr lang="en-US" smtClean="0"/>
              <a:pPr/>
              <a:t>7/26/2022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BEEE0C1-B772-45F8-A3A5-18C4DC2985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3488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023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74" name="Google Shape;7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788464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0235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15961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0235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0235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>
                <a:solidFill>
                  <a:prstClr val="black"/>
                </a:solidFill>
              </a:rPr>
              <a:pPr/>
              <a:t>15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8778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45798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58001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312846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2375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5477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9387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0235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BEEE0C1-B772-45F8-A3A5-18C4DC298566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270235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B95BBE7D-C5BB-4A01-9687-EE5C981211F2}" type="slidenum">
              <a:rPr lang="en-US" smtClean="0"/>
              <a:pPr/>
              <a:t>28</a:t>
            </a:fld>
            <a:endParaRPr lang="en-US" dirty="0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dirty="0" smtClean="0"/>
          </a:p>
        </p:txBody>
      </p:sp>
      <p:sp>
        <p:nvSpPr>
          <p:cNvPr id="2150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fld id="{B95BBE7D-C5BB-4A01-9687-EE5C981211F2}" type="slidenum">
              <a:rPr lang="en-US" smtClean="0"/>
              <a:pPr/>
              <a:t>29</a:t>
            </a:fld>
            <a:endParaRPr 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1F1591-7054-4251-AF06-BDE604ED0E91}" type="datetime1">
              <a:rPr lang="en-US" smtClean="0"/>
              <a:pPr/>
              <a:t>7/26/2022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2454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C6307-506C-44D1-B425-D8CF5D1B3725}" type="datetime1">
              <a:rPr lang="en-US" smtClean="0"/>
              <a:pPr/>
              <a:t>7/26/2022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411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BD2A05-ECF6-4F6E-B5D9-DF1E5CEFE030}" type="datetime1">
              <a:rPr lang="en-US" smtClean="0"/>
              <a:pPr/>
              <a:t>7/26/2022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ooter Placeholder 6"/>
          <p:cNvSpPr txBox="1">
            <a:spLocks/>
          </p:cNvSpPr>
          <p:nvPr userDrawn="1"/>
        </p:nvSpPr>
        <p:spPr>
          <a:xfrm>
            <a:off x="34636" y="6626945"/>
            <a:ext cx="2860964" cy="24938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800" b="1" dirty="0" smtClean="0">
                <a:solidFill>
                  <a:schemeClr val="bg1"/>
                </a:solidFill>
              </a:rPr>
              <a:t>© 2013 Cengage Learning. All Rights Reserved. </a:t>
            </a:r>
            <a:endParaRPr lang="en-US" sz="8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51206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4ADEE1-12DA-4DDC-BB1C-ED2D0680A64D}" type="datetime1">
              <a:rPr lang="en-US" smtClean="0"/>
              <a:pPr/>
              <a:t>7/26/2022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75738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EDB34F-C7E8-4449-9F77-792E20ABE530}" type="datetime1">
              <a:rPr lang="en-US" smtClean="0"/>
              <a:pPr/>
              <a:t>7/26/2022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844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8F94D-C73D-4AA4-BBFB-031C17E822D3}" type="datetime1">
              <a:rPr lang="en-US" smtClean="0"/>
              <a:pPr/>
              <a:t>7/26/2022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828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C93C2-407B-4D0F-B104-EC60AD587BAF}" type="datetime1">
              <a:rPr lang="en-US" smtClean="0"/>
              <a:pPr/>
              <a:t>7/26/2022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433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03C909-6A45-4FCA-A42B-39AE6373DC4A}" type="datetime1">
              <a:rPr lang="en-US" smtClean="0"/>
              <a:pPr/>
              <a:t>7/26/2022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7213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34B76F-0D32-4D0F-8B06-5841096B291A}" type="datetime1">
              <a:rPr lang="en-US" smtClean="0"/>
              <a:pPr/>
              <a:t>7/26/2022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7529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A9ACC3-1D3E-4701-AD66-77C5796A5AD8}" type="datetime1">
              <a:rPr lang="en-US" smtClean="0"/>
              <a:pPr/>
              <a:t>7/26/2022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5668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ACD9E1-A523-4FE1-B126-D5F4E685904E}" type="datetime1">
              <a:rPr lang="en-US" smtClean="0"/>
              <a:pPr/>
              <a:t>7/26/2022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08074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sic Layout">
  <p:cSld name="Basic Layout">
    <p:bg>
      <p:bgPr>
        <a:solidFill>
          <a:schemeClr val="lt1"/>
        </a:solidFill>
        <a:effectLst/>
      </p:bgPr>
    </p:bg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body" idx="1"/>
          </p:nvPr>
        </p:nvSpPr>
        <p:spPr>
          <a:xfrm>
            <a:off x="0" y="644691"/>
            <a:ext cx="9144000" cy="768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720"/>
              </a:spcBef>
              <a:spcAft>
                <a:spcPts val="0"/>
              </a:spcAft>
              <a:buClr>
                <a:srgbClr val="3F3F3F"/>
              </a:buClr>
              <a:buSzPts val="3600"/>
              <a:buFont typeface="Arial"/>
              <a:buNone/>
              <a:defRPr sz="3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2"/>
          </p:nvPr>
        </p:nvSpPr>
        <p:spPr>
          <a:xfrm>
            <a:off x="0" y="1412776"/>
            <a:ext cx="9144000" cy="384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spcBef>
                <a:spcPts val="280"/>
              </a:spcBef>
              <a:spcAft>
                <a:spcPts val="0"/>
              </a:spcAft>
              <a:buClr>
                <a:srgbClr val="3F3F3F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1515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rgbClr val="FFFFFF"/>
            </a:gs>
            <a:gs pos="7001">
              <a:srgbClr val="E6E6E6"/>
            </a:gs>
            <a:gs pos="32001">
              <a:srgbClr val="7D8496"/>
            </a:gs>
            <a:gs pos="47000">
              <a:srgbClr val="E6E6E6"/>
            </a:gs>
            <a:gs pos="85001">
              <a:srgbClr val="7D8496"/>
            </a:gs>
            <a:gs pos="100000">
              <a:srgbClr val="E6E6E6"/>
            </a:gs>
          </a:gsLst>
          <a:path path="rect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36A74E-1237-4CDD-A881-8B654A424ABC}" type="datetime1">
              <a:rPr lang="en-US" smtClean="0"/>
              <a:pPr/>
              <a:t>7/26/2022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 smtClean="0"/>
              <a:t>© 2013 Cengage Learning. All Rights Reserved. 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A7F9223-B69B-4AA9-B6C4-9B69EF94F2B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7310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youtube.com/watch?v=KfF5N1MaIxA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636" y="6626945"/>
            <a:ext cx="8118764" cy="249385"/>
          </a:xfrm>
        </p:spPr>
        <p:txBody>
          <a:bodyPr/>
          <a:lstStyle/>
          <a:p>
            <a:pPr algn="l"/>
            <a:r>
              <a:rPr lang="en-US" sz="800" b="1" dirty="0" smtClean="0">
                <a:solidFill>
                  <a:schemeClr val="bg1"/>
                </a:solidFill>
              </a:rPr>
              <a:t>© 2013 Cengage Learning. All Rights Reserved. 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</a:t>
            </a:fld>
            <a:endParaRPr lang="en-US" sz="800" dirty="0">
              <a:solidFill>
                <a:schemeClr val="accent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676400" y="4495800"/>
            <a:ext cx="6477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endParaRPr lang="en-US" sz="2400" b="1" i="1" dirty="0">
              <a:solidFill>
                <a:schemeClr val="accent3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2362200" y="685800"/>
            <a:ext cx="5486400" cy="54864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endParaRPr lang="en-US" sz="2000" i="1" dirty="0" smtClean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 smtClean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 smtClean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 smtClean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 smtClean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endParaRPr lang="en-US" sz="2000" i="1" dirty="0" smtClean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lvl="0"/>
            <a:r>
              <a:rPr lang="en-US" sz="2400" b="1" i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/>
            </a:r>
            <a:br>
              <a:rPr lang="en-US" sz="2400" b="1" i="1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</a:br>
            <a:endParaRPr lang="en-US" sz="2000" b="1" i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ndara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066801" y="1143000"/>
            <a:ext cx="7848600" cy="3352800"/>
          </a:xfrm>
          <a:prstGeom prst="rect">
            <a:avLst/>
          </a:prstGeom>
          <a:solidFill>
            <a:schemeClr val="accent3">
              <a:lumMod val="50000"/>
            </a:schemeClr>
          </a:solidFill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3200" i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Lecture # 1</a:t>
            </a:r>
            <a:endParaRPr lang="en-US" sz="4400" dirty="0" smtClean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  <a:p>
            <a:pPr algn="ctr"/>
            <a:r>
              <a:rPr lang="en-US" sz="36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Introduction to </a:t>
            </a:r>
            <a:r>
              <a:rPr lang="en-US" sz="36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Ethics</a:t>
            </a:r>
          </a:p>
          <a:p>
            <a:pPr algn="ctr"/>
            <a:r>
              <a:rPr lang="en-US" sz="36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Instructor</a:t>
            </a:r>
          </a:p>
          <a:p>
            <a:pPr algn="ctr"/>
            <a:r>
              <a:rPr lang="en-US" sz="36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Dr. </a:t>
            </a:r>
            <a:r>
              <a:rPr lang="en-US" sz="3600" b="1" dirty="0" err="1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Shahnawaz</a:t>
            </a:r>
            <a:r>
              <a:rPr lang="en-US" sz="3600" b="1" dirty="0" smtClean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 Muhammad Khan</a:t>
            </a:r>
            <a:endParaRPr lang="en-US" sz="36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Rounded MT Bold" pitchFamily="34" charset="0"/>
            </a:endParaRPr>
          </a:p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765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Content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Definition </a:t>
            </a:r>
          </a:p>
          <a:p>
            <a:r>
              <a:rPr lang="en-US" dirty="0" smtClean="0"/>
              <a:t>Kinds </a:t>
            </a:r>
          </a:p>
          <a:p>
            <a:r>
              <a:rPr lang="en-US" dirty="0" smtClean="0"/>
              <a:t>Moral values </a:t>
            </a:r>
          </a:p>
          <a:p>
            <a:r>
              <a:rPr lang="en-US" dirty="0" smtClean="0"/>
              <a:t>Ethical terms</a:t>
            </a:r>
          </a:p>
          <a:p>
            <a:r>
              <a:rPr lang="en-US" dirty="0" smtClean="0"/>
              <a:t>Absolutism vs. Relativism </a:t>
            </a:r>
          </a:p>
          <a:p>
            <a:r>
              <a:rPr lang="en-US" dirty="0" smtClean="0"/>
              <a:t>Importance of ethics 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2013 Cengage Learning. All Rights Reserved.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997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4953000"/>
          </a:xfrm>
          <a:ln>
            <a:solidFill>
              <a:schemeClr val="bg1"/>
            </a:solidFill>
          </a:ln>
        </p:spPr>
        <p:txBody>
          <a:bodyPr>
            <a:normAutofit fontScale="92500"/>
          </a:bodyPr>
          <a:lstStyle/>
          <a:p>
            <a:pPr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/>
              <a:t>Ethos means characters and custom.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/>
              <a:t>It is the study about right or wrong act.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/>
              <a:t>What ought to be in general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/>
              <a:t>How should people act or live ?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/>
              <a:t>Search for ultimate goodness and right conduct.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/>
              <a:t>Judge the action according to standards of Justice, humanity, truth, goodness are basics of action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r>
              <a:rPr lang="en-US" dirty="0" smtClean="0"/>
              <a:t>What is the highest good or virtuous life.</a:t>
            </a:r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dirty="0" smtClean="0"/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dirty="0" smtClean="0"/>
          </a:p>
          <a:p>
            <a:pPr marL="379476" indent="-342900"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dirty="0"/>
          </a:p>
          <a:p>
            <a:pPr eaLnBrk="1" fontAlgn="auto" hangingPunct="1">
              <a:spcAft>
                <a:spcPts val="0"/>
              </a:spcAft>
              <a:buFont typeface="Wingdings" pitchFamily="2" charset="2"/>
              <a:buChar char="§"/>
              <a:defRPr/>
            </a:pPr>
            <a:endParaRPr lang="en-US" dirty="0"/>
          </a:p>
        </p:txBody>
      </p:sp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>
          <a:xfrm>
            <a:off x="2971800" y="381000"/>
            <a:ext cx="3429000" cy="685800"/>
          </a:xfrm>
          <a:solidFill>
            <a:schemeClr val="bg2"/>
          </a:solidFill>
        </p:spPr>
        <p:txBody>
          <a:bodyPr>
            <a:normAutofit fontScale="90000"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       E</a:t>
            </a:r>
            <a:r>
              <a:rPr dirty="0" smtClean="0"/>
              <a:t>thics </a:t>
            </a:r>
            <a:endParaRPr dirty="0"/>
          </a:p>
        </p:txBody>
      </p:sp>
      <p:pic>
        <p:nvPicPr>
          <p:cNvPr id="4" name="Content Placeholder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4878" y="-152400"/>
            <a:ext cx="3223260" cy="1790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344367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0" y="1143000"/>
            <a:ext cx="9067800" cy="51815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endParaRPr sz="3200" dirty="0">
              <a:solidFill>
                <a:schemeClr val="accent4"/>
              </a:solidFill>
            </a:endParaRPr>
          </a:p>
          <a:p>
            <a:pPr lvl="0" indent="-457200" algn="just">
              <a:spcBef>
                <a:spcPts val="0"/>
              </a:spcBef>
              <a:buClr>
                <a:srgbClr val="0000FF"/>
              </a:buClr>
              <a:buFont typeface="Arial" pitchFamily="34" charset="0"/>
              <a:buChar char="•"/>
            </a:pPr>
            <a:r>
              <a:rPr lang="en-US" sz="3200" dirty="0">
                <a:solidFill>
                  <a:schemeClr val="accent4"/>
                </a:solidFill>
                <a:ea typeface="Calibri"/>
                <a:cs typeface="Calibri"/>
                <a:sym typeface="Calibri"/>
              </a:rPr>
              <a:t>Ethics studies only actions of human beings </a:t>
            </a:r>
          </a:p>
          <a:p>
            <a:pPr lvl="0" indent="-457200" algn="just">
              <a:spcBef>
                <a:spcPts val="0"/>
              </a:spcBef>
              <a:buClr>
                <a:srgbClr val="0000FF"/>
              </a:buClr>
              <a:buFont typeface="Arial" pitchFamily="34" charset="0"/>
              <a:buChar char="•"/>
            </a:pPr>
            <a:endParaRPr lang="en-US" sz="3200" dirty="0">
              <a:solidFill>
                <a:schemeClr val="accent4"/>
              </a:solidFill>
              <a:ea typeface="Calibri"/>
              <a:cs typeface="Calibri"/>
              <a:sym typeface="Calibri"/>
            </a:endParaRPr>
          </a:p>
          <a:p>
            <a:pPr lvl="0" indent="-457200" algn="just">
              <a:spcBef>
                <a:spcPts val="0"/>
              </a:spcBef>
              <a:buClr>
                <a:srgbClr val="0000FF"/>
              </a:buClr>
              <a:buFont typeface="Arial" pitchFamily="34" charset="0"/>
              <a:buChar char="•"/>
            </a:pPr>
            <a:r>
              <a:rPr lang="en-US" sz="3200" dirty="0">
                <a:solidFill>
                  <a:schemeClr val="accent4"/>
                </a:solidFill>
                <a:ea typeface="Calibri"/>
                <a:cs typeface="Calibri"/>
                <a:sym typeface="Calibri"/>
              </a:rPr>
              <a:t>It is argued that actions of human beings who are not living in a society are excluded from the scope of ethics</a:t>
            </a:r>
          </a:p>
          <a:p>
            <a:pPr lvl="0" indent="-457200" algn="just">
              <a:spcBef>
                <a:spcPts val="0"/>
              </a:spcBef>
              <a:buClr>
                <a:srgbClr val="0000FF"/>
              </a:buClr>
              <a:buFont typeface="Arial" pitchFamily="34" charset="0"/>
              <a:buChar char="•"/>
            </a:pPr>
            <a:endParaRPr lang="en-US" sz="3200" dirty="0">
              <a:solidFill>
                <a:schemeClr val="accent4"/>
              </a:solidFill>
              <a:ea typeface="Calibri"/>
              <a:cs typeface="Calibri"/>
              <a:sym typeface="Calibri"/>
            </a:endParaRPr>
          </a:p>
          <a:p>
            <a:pPr indent="-457200" algn="just">
              <a:spcBef>
                <a:spcPts val="0"/>
              </a:spcBef>
              <a:buClr>
                <a:srgbClr val="0000FF"/>
              </a:buClr>
              <a:buFont typeface="Arial" pitchFamily="34" charset="0"/>
              <a:buChar char="•"/>
            </a:pPr>
            <a:endParaRPr lang="en-US" sz="3200" dirty="0">
              <a:solidFill>
                <a:schemeClr val="accent4"/>
              </a:solidFill>
            </a:endParaRPr>
          </a:p>
          <a:p>
            <a:pPr lvl="0" indent="-457200" algn="l">
              <a:spcBef>
                <a:spcPts val="0"/>
              </a:spcBef>
              <a:buClr>
                <a:srgbClr val="0000FF"/>
              </a:buClr>
              <a:buFont typeface="Arial" pitchFamily="34" charset="0"/>
              <a:buChar char="•"/>
            </a:pPr>
            <a:endParaRPr lang="en-US" sz="3200" b="1" dirty="0">
              <a:solidFill>
                <a:schemeClr val="accent4"/>
              </a:solidFill>
              <a:ea typeface="Calibri"/>
              <a:cs typeface="Calibri"/>
              <a:sym typeface="Calibri"/>
            </a:endParaRP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r>
              <a:rPr lang="en-US" sz="3200" dirty="0">
                <a:solidFill>
                  <a:schemeClr val="accent4"/>
                </a:solidFill>
                <a:sym typeface="Calibri"/>
              </a:rPr>
              <a:t>                         </a:t>
            </a:r>
            <a:endParaRPr lang="en-US" sz="3200" b="1" dirty="0">
              <a:solidFill>
                <a:schemeClr val="accent4"/>
              </a:solidFill>
            </a:endParaRPr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-31863" y="304800"/>
            <a:ext cx="92076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en-US" sz="3600" b="1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Scope of Ethics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803059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699796" y="2462098"/>
            <a:ext cx="7781731" cy="25142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Arial" pitchFamily="34" charset="0"/>
              <a:buChar char="•"/>
            </a:pPr>
            <a:r>
              <a:rPr lang="en-US" sz="2000" dirty="0">
                <a:solidFill>
                  <a:schemeClr val="hlink"/>
                </a:solidFill>
              </a:rPr>
              <a:t>Meta-ethics</a:t>
            </a:r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Arial" pitchFamily="34" charset="0"/>
              <a:buChar char="•"/>
            </a:pPr>
            <a:r>
              <a:rPr lang="en-US" sz="2000" dirty="0">
                <a:solidFill>
                  <a:schemeClr val="hlink"/>
                </a:solidFill>
              </a:rPr>
              <a:t>Normative Ethics </a:t>
            </a:r>
          </a:p>
          <a:p>
            <a:pPr marL="342900" lvl="0" indent="-342900" algn="l" rtl="0">
              <a:spcBef>
                <a:spcPts val="720"/>
              </a:spcBef>
              <a:spcAft>
                <a:spcPts val="0"/>
              </a:spcAft>
              <a:buClr>
                <a:srgbClr val="0000FF"/>
              </a:buClr>
              <a:buSzPts val="3600"/>
              <a:buFont typeface="Arial" pitchFamily="34" charset="0"/>
              <a:buChar char="•"/>
            </a:pPr>
            <a:r>
              <a:rPr lang="en-US" sz="2000" dirty="0">
                <a:solidFill>
                  <a:schemeClr val="hlink"/>
                </a:solidFill>
              </a:rPr>
              <a:t>Applied Ethics</a:t>
            </a:r>
          </a:p>
          <a:p>
            <a:pPr marL="0" lvl="0" indent="0" algn="l" rtl="0">
              <a:spcBef>
                <a:spcPts val="720"/>
              </a:spcBef>
              <a:spcAft>
                <a:spcPts val="0"/>
              </a:spcAft>
              <a:buClr>
                <a:srgbClr val="0000FF"/>
              </a:buClr>
              <a:buSzPts val="3600"/>
            </a:pPr>
            <a:endParaRPr lang="en-US" sz="2000" dirty="0">
              <a:solidFill>
                <a:schemeClr val="hlink"/>
              </a:solidFill>
            </a:endParaRPr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-31863" y="1296796"/>
            <a:ext cx="92076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en-US" sz="3600" b="1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The Three Branches of Ethics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54473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0" y="1143000"/>
            <a:ext cx="8481527" cy="4729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endParaRPr sz="3200" dirty="0"/>
          </a:p>
          <a:p>
            <a:pPr lvl="0" indent="-457200" algn="l">
              <a:spcBef>
                <a:spcPts val="0"/>
              </a:spcBef>
              <a:buClr>
                <a:srgbClr val="0000FF"/>
              </a:buClr>
              <a:buFont typeface="Arial" pitchFamily="34" charset="0"/>
              <a:buChar char="•"/>
            </a:pPr>
            <a:r>
              <a:rPr lang="en-US" sz="3200" dirty="0">
                <a:solidFill>
                  <a:schemeClr val="hlink"/>
                </a:solidFill>
                <a:ea typeface="Calibri"/>
                <a:cs typeface="Calibri"/>
                <a:sym typeface="Calibri"/>
              </a:rPr>
              <a:t>Study of the meaning of ethical terms &amp; concept which forms the foundation of morality</a:t>
            </a: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endParaRPr lang="en-US" sz="3200" dirty="0">
              <a:solidFill>
                <a:schemeClr val="hlink"/>
              </a:solidFill>
              <a:ea typeface="Calibri"/>
              <a:cs typeface="Calibri"/>
              <a:sym typeface="Calibri"/>
            </a:endParaRP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r>
              <a:rPr lang="en-US" sz="3200" dirty="0">
                <a:solidFill>
                  <a:schemeClr val="hlink"/>
                </a:solidFill>
                <a:ea typeface="Calibri"/>
                <a:cs typeface="Calibri"/>
                <a:sym typeface="Calibri"/>
              </a:rPr>
              <a:t>       Examples:</a:t>
            </a: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r>
              <a:rPr lang="en-US" sz="3200" dirty="0">
                <a:solidFill>
                  <a:schemeClr val="hlink"/>
                </a:solidFill>
                <a:ea typeface="Calibri"/>
                <a:cs typeface="Calibri"/>
                <a:sym typeface="Calibri"/>
              </a:rPr>
              <a:t>	- What is the meaning of (term) right?</a:t>
            </a: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r>
              <a:rPr lang="en-US" sz="3200" dirty="0">
                <a:solidFill>
                  <a:schemeClr val="hlink"/>
                </a:solidFill>
                <a:ea typeface="Calibri"/>
                <a:cs typeface="Calibri"/>
                <a:sym typeface="Calibri"/>
              </a:rPr>
              <a:t>	- Is morality objective? Testable?</a:t>
            </a: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endParaRPr lang="en-US" sz="3200" dirty="0">
              <a:solidFill>
                <a:schemeClr val="hlink"/>
              </a:solidFill>
              <a:ea typeface="Calibri"/>
              <a:cs typeface="Calibri"/>
              <a:sym typeface="Calibri"/>
            </a:endParaRP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r>
              <a:rPr lang="en-US" sz="3200" dirty="0">
                <a:solidFill>
                  <a:schemeClr val="hlink"/>
                </a:solidFill>
                <a:ea typeface="Calibri"/>
                <a:cs typeface="Calibri"/>
                <a:sym typeface="Calibri"/>
              </a:rPr>
              <a:t> </a:t>
            </a:r>
            <a:endParaRPr sz="3200" dirty="0"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-31863" y="228600"/>
            <a:ext cx="92076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en-US" sz="3600" b="1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Meta-ethics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45193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0" y="1143001"/>
            <a:ext cx="9060024" cy="4890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endParaRPr sz="2800" dirty="0"/>
          </a:p>
          <a:p>
            <a:pPr lvl="0" indent="-457200" algn="l">
              <a:spcBef>
                <a:spcPts val="0"/>
              </a:spcBef>
              <a:buClr>
                <a:srgbClr val="0000FF"/>
              </a:buClr>
              <a:buFont typeface="Arial" pitchFamily="34" charset="0"/>
              <a:buChar char="•"/>
            </a:pPr>
            <a:r>
              <a:rPr lang="en-US" sz="2800" dirty="0">
                <a:solidFill>
                  <a:schemeClr val="hlink"/>
                </a:solidFill>
                <a:ea typeface="Calibri"/>
                <a:cs typeface="Calibri"/>
                <a:sym typeface="Calibri"/>
              </a:rPr>
              <a:t>Study of what makes an action morally right/wrong or good/bad, what rule should one follow in order to a good person etc. </a:t>
            </a: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endParaRPr lang="en-US" sz="2800" dirty="0">
              <a:solidFill>
                <a:schemeClr val="hlink"/>
              </a:solidFill>
              <a:ea typeface="Calibri"/>
              <a:cs typeface="Calibri"/>
              <a:sym typeface="Calibri"/>
            </a:endParaRP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r>
              <a:rPr lang="en-US" sz="2800" dirty="0">
                <a:solidFill>
                  <a:schemeClr val="hlink"/>
                </a:solidFill>
                <a:ea typeface="Calibri"/>
                <a:cs typeface="Calibri"/>
                <a:sym typeface="Calibri"/>
              </a:rPr>
              <a:t>       Examples:</a:t>
            </a: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r>
              <a:rPr lang="en-US" sz="2800" dirty="0">
                <a:solidFill>
                  <a:schemeClr val="hlink"/>
                </a:solidFill>
                <a:ea typeface="Calibri"/>
                <a:cs typeface="Calibri"/>
                <a:sym typeface="Calibri"/>
              </a:rPr>
              <a:t>	-What should I do? What is right action to do?</a:t>
            </a: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r>
              <a:rPr lang="en-US" sz="2800" dirty="0">
                <a:solidFill>
                  <a:schemeClr val="hlink"/>
                </a:solidFill>
                <a:ea typeface="Calibri"/>
                <a:cs typeface="Calibri"/>
                <a:sym typeface="Calibri"/>
              </a:rPr>
              <a:t>	-How should I live my life? </a:t>
            </a: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r>
              <a:rPr lang="en-US" sz="2800" dirty="0">
                <a:solidFill>
                  <a:schemeClr val="hlink"/>
                </a:solidFill>
                <a:ea typeface="Calibri"/>
                <a:cs typeface="Calibri"/>
                <a:sym typeface="Calibri"/>
              </a:rPr>
              <a:t> </a:t>
            </a:r>
            <a:endParaRPr sz="2800" dirty="0"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-31863" y="228600"/>
            <a:ext cx="92076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en-US" sz="3600" b="1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Normative Ethics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87409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0" y="1295400"/>
            <a:ext cx="88392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endParaRPr sz="3200" dirty="0"/>
          </a:p>
          <a:p>
            <a:pPr lvl="0" indent="-457200" algn="l">
              <a:spcBef>
                <a:spcPts val="0"/>
              </a:spcBef>
              <a:buClr>
                <a:srgbClr val="0000FF"/>
              </a:buClr>
              <a:buFont typeface="Arial" pitchFamily="34" charset="0"/>
              <a:buChar char="•"/>
            </a:pPr>
            <a:r>
              <a:rPr lang="en-US" sz="3200" dirty="0">
                <a:solidFill>
                  <a:schemeClr val="hlink"/>
                </a:solidFill>
                <a:ea typeface="Calibri"/>
                <a:cs typeface="Calibri"/>
                <a:sym typeface="Calibri"/>
              </a:rPr>
              <a:t>Application of moral principles and ethical theories to practical problem.</a:t>
            </a: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endParaRPr lang="en-US" sz="3200" dirty="0">
              <a:solidFill>
                <a:schemeClr val="hlink"/>
              </a:solidFill>
              <a:ea typeface="Calibri"/>
              <a:cs typeface="Calibri"/>
              <a:sym typeface="Calibri"/>
            </a:endParaRP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r>
              <a:rPr lang="en-US" sz="3200" dirty="0">
                <a:solidFill>
                  <a:schemeClr val="hlink"/>
                </a:solidFill>
                <a:ea typeface="Calibri"/>
                <a:cs typeface="Calibri"/>
                <a:sym typeface="Calibri"/>
              </a:rPr>
              <a:t>       Examples:</a:t>
            </a: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r>
              <a:rPr lang="en-US" sz="3200" dirty="0">
                <a:solidFill>
                  <a:schemeClr val="hlink"/>
                </a:solidFill>
                <a:ea typeface="Calibri"/>
                <a:cs typeface="Calibri"/>
                <a:sym typeface="Calibri"/>
              </a:rPr>
              <a:t>- Do corporates have a responsibility towards environment?</a:t>
            </a: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r>
              <a:rPr lang="en-US" sz="3200" dirty="0">
                <a:solidFill>
                  <a:schemeClr val="hlink"/>
                </a:solidFill>
                <a:ea typeface="Calibri"/>
                <a:cs typeface="Calibri"/>
                <a:sym typeface="Calibri"/>
              </a:rPr>
              <a:t>- Is it wrong to donate your body organ to save other life?</a:t>
            </a: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endParaRPr lang="en-US" sz="3200" dirty="0">
              <a:solidFill>
                <a:schemeClr val="hlink"/>
              </a:solidFill>
              <a:ea typeface="Calibri"/>
              <a:cs typeface="Calibri"/>
              <a:sym typeface="Calibri"/>
            </a:endParaRP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r>
              <a:rPr lang="en-US" sz="3200" dirty="0">
                <a:solidFill>
                  <a:schemeClr val="hlink"/>
                </a:solidFill>
                <a:ea typeface="Calibri"/>
                <a:cs typeface="Calibri"/>
                <a:sym typeface="Calibri"/>
              </a:rPr>
              <a:t> </a:t>
            </a:r>
            <a:endParaRPr sz="3200" dirty="0"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-31863" y="381000"/>
            <a:ext cx="92076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en-US" sz="3600" b="1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Applied Ethics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639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>
            <a:spLocks noGrp="1"/>
          </p:cNvSpPr>
          <p:nvPr>
            <p:ph type="body" idx="1"/>
          </p:nvPr>
        </p:nvSpPr>
        <p:spPr>
          <a:xfrm>
            <a:off x="699796" y="2462098"/>
            <a:ext cx="7781731" cy="34099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0" indent="-190500" algn="l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400"/>
              <a:buFont typeface="Arial"/>
              <a:buNone/>
            </a:pPr>
            <a:endParaRPr sz="2400" dirty="0"/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endParaRPr lang="en-US" sz="2000" dirty="0">
              <a:solidFill>
                <a:schemeClr val="hlink"/>
              </a:solidFill>
              <a:ea typeface="Calibri"/>
              <a:cs typeface="Calibri"/>
              <a:sym typeface="Calibri"/>
            </a:endParaRPr>
          </a:p>
          <a:p>
            <a:pPr marL="0" lvl="0" indent="0" algn="l">
              <a:spcBef>
                <a:spcPts val="0"/>
              </a:spcBef>
              <a:buClr>
                <a:srgbClr val="0000FF"/>
              </a:buClr>
            </a:pPr>
            <a:r>
              <a:rPr lang="en-US" sz="2000" dirty="0">
                <a:solidFill>
                  <a:schemeClr val="hlink"/>
                </a:solidFill>
                <a:ea typeface="Calibri"/>
                <a:cs typeface="Calibri"/>
                <a:sym typeface="Calibri"/>
              </a:rPr>
              <a:t> </a:t>
            </a:r>
            <a:endParaRPr sz="2000" dirty="0"/>
          </a:p>
        </p:txBody>
      </p:sp>
      <p:sp>
        <p:nvSpPr>
          <p:cNvPr id="78" name="Google Shape;78;p18"/>
          <p:cNvSpPr txBox="1">
            <a:spLocks noGrp="1"/>
          </p:cNvSpPr>
          <p:nvPr>
            <p:ph type="body" idx="2"/>
          </p:nvPr>
        </p:nvSpPr>
        <p:spPr>
          <a:xfrm>
            <a:off x="-63600" y="696307"/>
            <a:ext cx="9207600" cy="76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3600"/>
              <a:buNone/>
            </a:pPr>
            <a:r>
              <a:rPr lang="en-US" sz="3600" b="1" u="sng" dirty="0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An overview of branches </a:t>
            </a:r>
            <a:endParaRPr b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04497"/>
            <a:ext cx="9144000" cy="470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247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9585" y="990600"/>
            <a:ext cx="7467600" cy="5088466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Imagine your friend has just </a:t>
            </a:r>
            <a:r>
              <a:rPr lang="en-US" dirty="0" smtClean="0">
                <a:solidFill>
                  <a:schemeClr val="tx1"/>
                </a:solidFill>
              </a:rPr>
              <a:t>got ready for the farewell party ……..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…….</a:t>
            </a:r>
            <a:r>
              <a:rPr lang="en-US" dirty="0" smtClean="0">
                <a:solidFill>
                  <a:schemeClr val="tx1"/>
                </a:solidFill>
              </a:rPr>
              <a:t>she/he </a:t>
            </a:r>
            <a:r>
              <a:rPr lang="en-US" dirty="0">
                <a:solidFill>
                  <a:schemeClr val="tx1"/>
                </a:solidFill>
              </a:rPr>
              <a:t>strikes a pose and says </a:t>
            </a:r>
            <a:r>
              <a:rPr lang="en-US" dirty="0" smtClean="0">
                <a:solidFill>
                  <a:schemeClr val="tx1"/>
                </a:solidFill>
              </a:rPr>
              <a:t>‘How do I look like?’…….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You think: ‘Yuk!’ </a:t>
            </a:r>
          </a:p>
          <a:p>
            <a:pPr algn="l"/>
            <a:endParaRPr lang="en-US" sz="2800" dirty="0" smtClean="0">
              <a:solidFill>
                <a:schemeClr val="tx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636" y="6626945"/>
            <a:ext cx="8118764" cy="249385"/>
          </a:xfrm>
        </p:spPr>
        <p:txBody>
          <a:bodyPr/>
          <a:lstStyle/>
          <a:p>
            <a:pPr algn="l"/>
            <a:r>
              <a:rPr lang="en-US" sz="800" b="1" dirty="0" smtClean="0">
                <a:solidFill>
                  <a:schemeClr val="bg1"/>
                </a:solidFill>
              </a:rPr>
              <a:t>© 2013 Cengage Learning. All Rights Reserved. 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10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3690217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388534"/>
            <a:ext cx="7467600" cy="3564466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You have a problem…….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What is your problem?</a:t>
            </a:r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636" y="6626945"/>
            <a:ext cx="2860964" cy="249385"/>
          </a:xfrm>
        </p:spPr>
        <p:txBody>
          <a:bodyPr/>
          <a:lstStyle/>
          <a:p>
            <a:pPr algn="l"/>
            <a:r>
              <a:rPr lang="en-US" sz="800" b="1" dirty="0" smtClean="0">
                <a:solidFill>
                  <a:schemeClr val="bg1"/>
                </a:solidFill>
              </a:rPr>
              <a:t>© 2013 Cengage Learning. All Rights Reserved. 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11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9989006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685800"/>
            <a:ext cx="7467600" cy="4267200"/>
          </a:xfrm>
        </p:spPr>
        <p:txBody>
          <a:bodyPr anchor="ctr">
            <a:normAutofit/>
          </a:bodyPr>
          <a:lstStyle/>
          <a:p>
            <a:pPr algn="l"/>
            <a:r>
              <a:rPr lang="en-US" dirty="0" smtClean="0">
                <a:solidFill>
                  <a:schemeClr val="tx1"/>
                </a:solidFill>
              </a:rPr>
              <a:t>What should I choose….. A moral dilemma</a:t>
            </a:r>
          </a:p>
          <a:p>
            <a:pPr algn="l"/>
            <a:endParaRPr lang="en-US" b="1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Honesty vs. Kindness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Video recourse: Moral </a:t>
            </a:r>
            <a:r>
              <a:rPr lang="en-US" dirty="0" err="1" smtClean="0">
                <a:solidFill>
                  <a:schemeClr val="tx1"/>
                </a:solidFill>
              </a:rPr>
              <a:t>Delimma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  <a:hlinkClick r:id="rId4"/>
              </a:rPr>
              <a:t>https://</a:t>
            </a:r>
            <a:r>
              <a:rPr lang="en-US" dirty="0" smtClean="0">
                <a:solidFill>
                  <a:schemeClr val="tx1"/>
                </a:solidFill>
                <a:hlinkClick r:id="rId4"/>
              </a:rPr>
              <a:t>www.youtube.com/watch?v=KfF5N1MaIxA</a:t>
            </a:r>
            <a:endParaRPr lang="en-US" dirty="0" smtClean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636" y="6626945"/>
            <a:ext cx="2860964" cy="249385"/>
          </a:xfrm>
        </p:spPr>
        <p:txBody>
          <a:bodyPr/>
          <a:lstStyle/>
          <a:p>
            <a:pPr algn="l"/>
            <a:r>
              <a:rPr lang="en-US" sz="800" b="1" dirty="0" smtClean="0">
                <a:solidFill>
                  <a:schemeClr val="bg1"/>
                </a:solidFill>
              </a:rPr>
              <a:t>© 2013 Cengage Learning. All Rights Reserved. 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12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54947633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2026" y="845440"/>
            <a:ext cx="7467600" cy="5088466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Moral dilemma of this sort are common…..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….in which moral rules/ moral values  come  into conflict…</a:t>
            </a:r>
          </a:p>
        </p:txBody>
      </p:sp>
      <p:sp>
        <p:nvSpPr>
          <p:cNvPr id="11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636" y="6626945"/>
            <a:ext cx="2860964" cy="249385"/>
          </a:xfrm>
        </p:spPr>
        <p:txBody>
          <a:bodyPr/>
          <a:lstStyle/>
          <a:p>
            <a:pPr algn="l"/>
            <a:r>
              <a:rPr lang="en-US" sz="800" b="1" dirty="0" smtClean="0">
                <a:solidFill>
                  <a:schemeClr val="bg1"/>
                </a:solidFill>
              </a:rPr>
              <a:t>© 2013 Cengage Learning. All Rights Reserved. 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13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05631945"/>
      </p:ext>
    </p:extLst>
  </p:cSld>
  <p:clrMapOvr>
    <a:masterClrMapping/>
  </p:clrMapOvr>
  <p:transition spd="slow">
    <p:fade thruBlk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2026" y="838616"/>
            <a:ext cx="7467600" cy="5088466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What should I do?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…..may appear </a:t>
            </a:r>
            <a:r>
              <a:rPr lang="en-US" dirty="0" smtClean="0">
                <a:solidFill>
                  <a:schemeClr val="tx1"/>
                </a:solidFill>
              </a:rPr>
              <a:t>insignificant but </a:t>
            </a:r>
            <a:r>
              <a:rPr lang="en-US" dirty="0">
                <a:solidFill>
                  <a:schemeClr val="tx1"/>
                </a:solidFill>
              </a:rPr>
              <a:t>is one of the most important questions 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“It is our whole way of life that is at issue” Socrates (469-399)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636" y="6626945"/>
            <a:ext cx="8118764" cy="249385"/>
          </a:xfrm>
        </p:spPr>
        <p:txBody>
          <a:bodyPr/>
          <a:lstStyle/>
          <a:p>
            <a:pPr algn="l"/>
            <a:r>
              <a:rPr lang="en-US" sz="800" b="1" dirty="0" smtClean="0">
                <a:solidFill>
                  <a:schemeClr val="bg1"/>
                </a:solidFill>
              </a:rPr>
              <a:t>© 2013 Cengage Learning. All Rights Reserved. 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14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57091941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white"/>
              </a:solidFill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1" y="406401"/>
            <a:ext cx="7467600" cy="835502"/>
          </a:xfrm>
        </p:spPr>
        <p:txBody>
          <a:bodyPr>
            <a:normAutofit fontScale="90000"/>
          </a:bodyPr>
          <a:lstStyle/>
          <a:p>
            <a:pPr algn="l"/>
            <a:r>
              <a:rPr lang="en-US" sz="36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/>
            </a:r>
            <a:br>
              <a:rPr lang="en-US" sz="36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</a:br>
            <a:r>
              <a:rPr lang="en-US" sz="36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Not </a:t>
            </a:r>
            <a:r>
              <a:rPr lang="en-US" sz="36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all uses of ‘should’, ‘ought’ and ‘good’ are moral uses:</a:t>
            </a:r>
            <a:r>
              <a:rPr lang="en-US" sz="40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/>
            </a:r>
            <a:br>
              <a:rPr lang="en-US" sz="40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</a:br>
            <a:endParaRPr lang="en-US" sz="40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12997" y="1390191"/>
            <a:ext cx="7467600" cy="5088466"/>
          </a:xfrm>
        </p:spPr>
        <p:txBody>
          <a:bodyPr anchor="ctr"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The newspapers should double–check their facts before they write such </a:t>
            </a:r>
            <a:r>
              <a:rPr lang="en-US" sz="2800" dirty="0" smtClean="0">
                <a:solidFill>
                  <a:schemeClr val="tx1"/>
                </a:solidFill>
              </a:rPr>
              <a:t>headlines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It is good to have ice cream in a hot </a:t>
            </a:r>
            <a:r>
              <a:rPr lang="en-US" sz="2800" dirty="0" smtClean="0">
                <a:solidFill>
                  <a:schemeClr val="tx1"/>
                </a:solidFill>
              </a:rPr>
              <a:t>day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Should I take coffee or tea?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People of Karachi should smile </a:t>
            </a:r>
            <a:r>
              <a:rPr lang="en-US" sz="2800" dirty="0" smtClean="0">
                <a:solidFill>
                  <a:schemeClr val="tx1"/>
                </a:solidFill>
              </a:rPr>
              <a:t>more</a:t>
            </a:r>
            <a:endParaRPr lang="en-US" sz="2800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Ahmed should have passed the ball earlier </a:t>
            </a:r>
            <a:endParaRPr lang="en-US" sz="2800" dirty="0" smtClean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Its bad to </a:t>
            </a:r>
            <a:r>
              <a:rPr lang="en-US" sz="2800" dirty="0">
                <a:solidFill>
                  <a:schemeClr val="tx1"/>
                </a:solidFill>
              </a:rPr>
              <a:t>"customize” and submit </a:t>
            </a:r>
            <a:r>
              <a:rPr lang="en-US" sz="2800" dirty="0" smtClean="0">
                <a:solidFill>
                  <a:schemeClr val="tx1"/>
                </a:solidFill>
              </a:rPr>
              <a:t>a research paper as </a:t>
            </a:r>
            <a:r>
              <a:rPr lang="en-US" sz="2800" dirty="0">
                <a:solidFill>
                  <a:schemeClr val="tx1"/>
                </a:solidFill>
              </a:rPr>
              <a:t>your </a:t>
            </a:r>
            <a:r>
              <a:rPr lang="en-US" sz="2800" dirty="0" smtClean="0">
                <a:solidFill>
                  <a:schemeClr val="tx1"/>
                </a:solidFill>
              </a:rPr>
              <a:t>own which you purchased online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endParaRPr lang="en-US" sz="2800" dirty="0" smtClean="0">
              <a:solidFill>
                <a:schemeClr val="tx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636" y="6626945"/>
            <a:ext cx="8118764" cy="249385"/>
          </a:xfrm>
        </p:spPr>
        <p:txBody>
          <a:bodyPr/>
          <a:lstStyle/>
          <a:p>
            <a:pPr algn="l"/>
            <a:r>
              <a:rPr lang="en-US" sz="800" b="1" dirty="0" smtClean="0">
                <a:solidFill>
                  <a:prstClr val="white"/>
                </a:solidFill>
              </a:rPr>
              <a:t>© 2013 Cengage Learning. All Rights Reserved. </a:t>
            </a:r>
            <a:endParaRPr lang="en-US" sz="800" b="1" dirty="0">
              <a:solidFill>
                <a:prstClr val="white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rgbClr val="4F81BD"/>
                </a:solidFill>
              </a:rPr>
              <a:pPr/>
              <a:t>15</a:t>
            </a:fld>
            <a:endParaRPr lang="en-US" sz="800" dirty="0">
              <a:solidFill>
                <a:srgbClr val="4F81BD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577325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2026" y="838616"/>
            <a:ext cx="7467600" cy="5088466"/>
          </a:xfrm>
        </p:spPr>
        <p:txBody>
          <a:bodyPr anchor="ctr">
            <a:normAutofit/>
          </a:bodyPr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What </a:t>
            </a:r>
            <a:r>
              <a:rPr lang="en-US" dirty="0" smtClean="0">
                <a:solidFill>
                  <a:schemeClr val="tx1"/>
                </a:solidFill>
              </a:rPr>
              <a:t>moral choice you make says </a:t>
            </a:r>
            <a:r>
              <a:rPr lang="en-US" dirty="0">
                <a:solidFill>
                  <a:schemeClr val="tx1"/>
                </a:solidFill>
              </a:rPr>
              <a:t>much about :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principles you </a:t>
            </a:r>
            <a:r>
              <a:rPr lang="en-US" dirty="0" smtClean="0">
                <a:solidFill>
                  <a:schemeClr val="tx1"/>
                </a:solidFill>
              </a:rPr>
              <a:t>have</a:t>
            </a:r>
            <a:endParaRPr lang="en-US" dirty="0">
              <a:solidFill>
                <a:schemeClr val="tx1"/>
              </a:solidFill>
            </a:endParaRP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things that are important to you 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The values you hold</a:t>
            </a: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636" y="6626945"/>
            <a:ext cx="8118764" cy="249385"/>
          </a:xfrm>
        </p:spPr>
        <p:txBody>
          <a:bodyPr/>
          <a:lstStyle/>
          <a:p>
            <a:pPr algn="l"/>
            <a:r>
              <a:rPr lang="en-US" sz="800" b="1" dirty="0" smtClean="0">
                <a:solidFill>
                  <a:schemeClr val="bg1"/>
                </a:solidFill>
              </a:rPr>
              <a:t>© 2013 Cengage Learning. All Rights Reserved. 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16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26179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1" y="406401"/>
            <a:ext cx="7467600" cy="835502"/>
          </a:xfrm>
        </p:spPr>
        <p:txBody>
          <a:bodyPr>
            <a:normAutofit/>
          </a:bodyPr>
          <a:lstStyle/>
          <a:p>
            <a:pPr algn="l"/>
            <a:r>
              <a:rPr lang="en-US" sz="40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Activity:</a:t>
            </a:r>
            <a:endParaRPr lang="en-US" sz="40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2026" y="1066800"/>
            <a:ext cx="7467600" cy="5088466"/>
          </a:xfrm>
        </p:spPr>
        <p:txBody>
          <a:bodyPr anchor="ctr">
            <a:norm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Step1:</a:t>
            </a:r>
            <a:endParaRPr lang="en-US" dirty="0">
              <a:solidFill>
                <a:schemeClr val="tx1"/>
              </a:solidFill>
            </a:endParaRPr>
          </a:p>
          <a:p>
            <a:pPr algn="just"/>
            <a:r>
              <a:rPr lang="en-US" sz="2800" dirty="0">
                <a:solidFill>
                  <a:schemeClr val="tx1"/>
                </a:solidFill>
              </a:rPr>
              <a:t>List </a:t>
            </a:r>
            <a:r>
              <a:rPr lang="en-US" sz="2800" dirty="0" smtClean="0">
                <a:solidFill>
                  <a:schemeClr val="tx1"/>
                </a:solidFill>
              </a:rPr>
              <a:t>any ten moral values </a:t>
            </a:r>
            <a:r>
              <a:rPr lang="en-US" sz="2800" dirty="0">
                <a:solidFill>
                  <a:schemeClr val="tx1"/>
                </a:solidFill>
              </a:rPr>
              <a:t>which you </a:t>
            </a:r>
            <a:r>
              <a:rPr lang="en-US" sz="2800" dirty="0" smtClean="0">
                <a:solidFill>
                  <a:schemeClr val="tx1"/>
                </a:solidFill>
              </a:rPr>
              <a:t>hold ( the things which are important to you)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</a:rPr>
              <a:t>For example some of the values are; </a:t>
            </a:r>
          </a:p>
          <a:p>
            <a:pPr algn="just"/>
            <a:r>
              <a:rPr lang="en-US" sz="2800" dirty="0" smtClean="0">
                <a:solidFill>
                  <a:schemeClr val="tx1"/>
                </a:solidFill>
              </a:rPr>
              <a:t>Family, Money, Education, Honesty etc.    </a:t>
            </a:r>
            <a:endParaRPr lang="en-US" sz="2800" dirty="0">
              <a:solidFill>
                <a:schemeClr val="tx1"/>
              </a:solidFill>
            </a:endParaRPr>
          </a:p>
          <a:p>
            <a:pPr algn="l"/>
            <a:endParaRPr lang="en-US" dirty="0" smtClean="0">
              <a:solidFill>
                <a:schemeClr val="tx1"/>
              </a:solidFill>
            </a:endParaRPr>
          </a:p>
          <a:p>
            <a:pPr algn="l"/>
            <a:r>
              <a:rPr lang="en-US" dirty="0" smtClean="0">
                <a:solidFill>
                  <a:schemeClr val="tx1"/>
                </a:solidFill>
              </a:rPr>
              <a:t>Step2:</a:t>
            </a:r>
          </a:p>
          <a:p>
            <a:pPr algn="l"/>
            <a:r>
              <a:rPr lang="en-US" sz="2800" dirty="0" smtClean="0">
                <a:solidFill>
                  <a:schemeClr val="tx1"/>
                </a:solidFill>
              </a:rPr>
              <a:t>Prioritize the values you have listed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636" y="6626945"/>
            <a:ext cx="8118764" cy="249385"/>
          </a:xfrm>
        </p:spPr>
        <p:txBody>
          <a:bodyPr/>
          <a:lstStyle/>
          <a:p>
            <a:pPr algn="l"/>
            <a:r>
              <a:rPr lang="en-US" sz="800" b="1" dirty="0" smtClean="0">
                <a:solidFill>
                  <a:schemeClr val="bg1"/>
                </a:solidFill>
              </a:rPr>
              <a:t>© 2013 Cengage Learning. All Rights Reserved. 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17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3400309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1" y="406401"/>
            <a:ext cx="7467600" cy="835502"/>
          </a:xfrm>
        </p:spPr>
        <p:txBody>
          <a:bodyPr>
            <a:normAutofit/>
          </a:bodyPr>
          <a:lstStyle/>
          <a:p>
            <a:pPr algn="l"/>
            <a:r>
              <a:rPr lang="en-US" sz="40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Activity Questions:</a:t>
            </a:r>
            <a:endParaRPr lang="en-US" sz="40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388534"/>
            <a:ext cx="7467600" cy="4326466"/>
          </a:xfrm>
        </p:spPr>
        <p:txBody>
          <a:bodyPr anchor="ctr">
            <a:normAutofit/>
          </a:bodyPr>
          <a:lstStyle/>
          <a:p>
            <a:pPr algn="l"/>
            <a:endParaRPr lang="en-US" dirty="0">
              <a:solidFill>
                <a:schemeClr val="tx1"/>
              </a:solidFill>
            </a:endParaRPr>
          </a:p>
          <a:p>
            <a:pPr marL="571500" indent="-571500" algn="l">
              <a:buFont typeface="+mj-lt"/>
              <a:buAutoNum type="romanLcPeriod"/>
            </a:pPr>
            <a:r>
              <a:rPr lang="en-US" sz="2800" dirty="0">
                <a:solidFill>
                  <a:schemeClr val="tx1"/>
                </a:solidFill>
              </a:rPr>
              <a:t>Do we have same top values</a:t>
            </a:r>
            <a:r>
              <a:rPr lang="en-US" sz="2800" dirty="0" smtClean="0">
                <a:solidFill>
                  <a:schemeClr val="tx1"/>
                </a:solidFill>
              </a:rPr>
              <a:t>?</a:t>
            </a:r>
            <a:endParaRPr lang="en-US" sz="2800" dirty="0">
              <a:solidFill>
                <a:schemeClr val="tx1"/>
              </a:solidFill>
            </a:endParaRPr>
          </a:p>
          <a:p>
            <a:pPr marL="571500" indent="-571500" algn="l">
              <a:buFont typeface="+mj-lt"/>
              <a:buAutoNum type="romanLcPeriod"/>
            </a:pPr>
            <a:r>
              <a:rPr lang="en-US" sz="2800" dirty="0">
                <a:solidFill>
                  <a:schemeClr val="tx1"/>
                </a:solidFill>
              </a:rPr>
              <a:t>Would your answer be same if asked 10 years </a:t>
            </a:r>
            <a:r>
              <a:rPr lang="en-US" sz="2800" dirty="0" smtClean="0">
                <a:solidFill>
                  <a:schemeClr val="tx1"/>
                </a:solidFill>
              </a:rPr>
              <a:t>back or will it be same after 10 years?</a:t>
            </a:r>
            <a:endParaRPr lang="en-US" sz="2800" dirty="0">
              <a:solidFill>
                <a:schemeClr val="tx1"/>
              </a:solidFill>
            </a:endParaRPr>
          </a:p>
          <a:p>
            <a:pPr marL="571500" indent="-571500" algn="l">
              <a:buFont typeface="+mj-lt"/>
              <a:buAutoNum type="romanLcPeriod"/>
            </a:pPr>
            <a:r>
              <a:rPr lang="en-US" sz="2800" dirty="0" smtClean="0">
                <a:solidFill>
                  <a:schemeClr val="tx1"/>
                </a:solidFill>
              </a:rPr>
              <a:t>Where </a:t>
            </a:r>
            <a:r>
              <a:rPr lang="en-US" sz="2800" dirty="0">
                <a:solidFill>
                  <a:schemeClr val="tx1"/>
                </a:solidFill>
              </a:rPr>
              <a:t>do these values come from</a:t>
            </a:r>
            <a:r>
              <a:rPr lang="en-US" sz="2800" dirty="0" smtClean="0">
                <a:solidFill>
                  <a:schemeClr val="tx1"/>
                </a:solidFill>
              </a:rPr>
              <a:t>?</a:t>
            </a:r>
          </a:p>
          <a:p>
            <a:pPr marL="571500" indent="-571500" algn="l">
              <a:buFont typeface="+mj-lt"/>
              <a:buAutoNum type="romanLcPeriod"/>
            </a:pPr>
            <a:r>
              <a:rPr lang="en-US" sz="2800" dirty="0">
                <a:solidFill>
                  <a:schemeClr val="tx1"/>
                </a:solidFill>
              </a:rPr>
              <a:t>Do the values affect your choices</a:t>
            </a:r>
            <a:r>
              <a:rPr lang="en-US" sz="2800" dirty="0" smtClean="0">
                <a:solidFill>
                  <a:schemeClr val="tx1"/>
                </a:solidFill>
              </a:rPr>
              <a:t>?</a:t>
            </a:r>
            <a:endParaRPr lang="en-US" sz="2800" dirty="0">
              <a:solidFill>
                <a:schemeClr val="tx1"/>
              </a:solidFill>
            </a:endParaRPr>
          </a:p>
          <a:p>
            <a:pPr algn="l"/>
            <a:r>
              <a:rPr lang="en-US" sz="2800" dirty="0">
                <a:solidFill>
                  <a:schemeClr val="tx1"/>
                </a:solidFill>
              </a:rPr>
              <a:t>Case study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636" y="6626945"/>
            <a:ext cx="8118764" cy="249385"/>
          </a:xfrm>
        </p:spPr>
        <p:txBody>
          <a:bodyPr/>
          <a:lstStyle/>
          <a:p>
            <a:pPr algn="l"/>
            <a:r>
              <a:rPr lang="en-US" sz="800" b="1" dirty="0" smtClean="0">
                <a:solidFill>
                  <a:schemeClr val="bg1"/>
                </a:solidFill>
              </a:rPr>
              <a:t>© 2013 Cengage Learning. All Rights Reserved. 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18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3423522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1" y="406401"/>
            <a:ext cx="7467600" cy="835502"/>
          </a:xfrm>
        </p:spPr>
        <p:txBody>
          <a:bodyPr>
            <a:normAutofit/>
          </a:bodyPr>
          <a:lstStyle/>
          <a:p>
            <a:pPr algn="l"/>
            <a:r>
              <a:rPr lang="en-US" sz="40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Moral Compass</a:t>
            </a:r>
            <a:endParaRPr lang="en-US" sz="40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388534"/>
            <a:ext cx="7467600" cy="4326466"/>
          </a:xfrm>
        </p:spPr>
        <p:txBody>
          <a:bodyPr anchor="ctr">
            <a:normAutofit/>
          </a:bodyPr>
          <a:lstStyle/>
          <a:p>
            <a:pPr algn="l"/>
            <a:r>
              <a:rPr lang="en-US" dirty="0" smtClean="0">
                <a:solidFill>
                  <a:schemeClr val="tx1"/>
                </a:solidFill>
              </a:rPr>
              <a:t>“An Internalized set of values and principles that guide a person with regard to ethical behavior and decision making”</a:t>
            </a:r>
            <a:endParaRPr lang="en-US" dirty="0">
              <a:solidFill>
                <a:schemeClr val="tx1"/>
              </a:solidFill>
            </a:endParaRP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636" y="6626945"/>
            <a:ext cx="8118764" cy="249385"/>
          </a:xfrm>
        </p:spPr>
        <p:txBody>
          <a:bodyPr/>
          <a:lstStyle/>
          <a:p>
            <a:pPr algn="l"/>
            <a:r>
              <a:rPr lang="en-US" sz="800" b="1" dirty="0" smtClean="0">
                <a:solidFill>
                  <a:schemeClr val="bg1"/>
                </a:solidFill>
              </a:rPr>
              <a:t>© 2013 Cengage Learning. All Rights Reserved. 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19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8588290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1" y="406401"/>
            <a:ext cx="7467600" cy="835502"/>
          </a:xfrm>
        </p:spPr>
        <p:txBody>
          <a:bodyPr>
            <a:normAutofit/>
          </a:bodyPr>
          <a:lstStyle/>
          <a:p>
            <a:pPr algn="l"/>
            <a:r>
              <a:rPr lang="en-US" sz="40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Ethics…..</a:t>
            </a:r>
            <a:endParaRPr lang="en-US" sz="40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2026" y="1495904"/>
            <a:ext cx="7467600" cy="4430762"/>
          </a:xfrm>
        </p:spPr>
        <p:txBody>
          <a:bodyPr anchor="ctr">
            <a:normAutofit fontScale="92500" lnSpcReduction="10000"/>
          </a:bodyPr>
          <a:lstStyle/>
          <a:p>
            <a:pPr algn="l"/>
            <a:r>
              <a:rPr lang="en-US" dirty="0" smtClean="0">
                <a:solidFill>
                  <a:schemeClr val="tx1"/>
                </a:solidFill>
              </a:rPr>
              <a:t>primarily</a:t>
            </a:r>
            <a:r>
              <a:rPr lang="en-US" dirty="0">
                <a:solidFill>
                  <a:schemeClr val="tx1"/>
                </a:solidFill>
              </a:rPr>
              <a:t>, but not only, deals with the question; What should I do?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……Implied in any choice is a value or value judgment ……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  <a:p>
            <a:pPr algn="l"/>
            <a:r>
              <a:rPr lang="en-US" dirty="0">
                <a:solidFill>
                  <a:schemeClr val="tx1"/>
                </a:solidFill>
              </a:rPr>
              <a:t>…In addition ethics deals with questions of values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What is right to do? &amp; what is good to do?</a:t>
            </a:r>
          </a:p>
          <a:p>
            <a:pPr algn="l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636" y="6626945"/>
            <a:ext cx="8118764" cy="249385"/>
          </a:xfrm>
        </p:spPr>
        <p:txBody>
          <a:bodyPr/>
          <a:lstStyle/>
          <a:p>
            <a:pPr algn="l"/>
            <a:r>
              <a:rPr lang="en-US" sz="800" b="1" dirty="0" smtClean="0">
                <a:solidFill>
                  <a:schemeClr val="bg1"/>
                </a:solidFill>
              </a:rPr>
              <a:t>© 2013 Cengage Learning. All Rights Reserved. 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20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4226332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1" y="406401"/>
            <a:ext cx="7467600" cy="835502"/>
          </a:xfrm>
        </p:spPr>
        <p:txBody>
          <a:bodyPr>
            <a:normAutofit/>
          </a:bodyPr>
          <a:lstStyle/>
          <a:p>
            <a:pPr algn="l"/>
            <a:r>
              <a:rPr lang="en-US" sz="40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Ethics</a:t>
            </a:r>
            <a:endParaRPr lang="en-US" sz="40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2026" y="1495904"/>
            <a:ext cx="7467600" cy="4430762"/>
          </a:xfrm>
        </p:spPr>
        <p:txBody>
          <a:bodyPr anchor="ctr">
            <a:norm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 smtClean="0">
                <a:solidFill>
                  <a:schemeClr val="tx1"/>
                </a:solidFill>
              </a:rPr>
              <a:t>The study of values that govern our moral character and our relationship with other people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tx1"/>
                </a:solidFill>
              </a:rPr>
              <a:t> a branch of </a:t>
            </a:r>
            <a:r>
              <a:rPr lang="en-US" sz="2800" dirty="0" smtClean="0">
                <a:solidFill>
                  <a:schemeClr val="tx1"/>
                </a:solidFill>
              </a:rPr>
              <a:t>Philosophy </a:t>
            </a:r>
            <a:r>
              <a:rPr lang="en-US" sz="2800" dirty="0">
                <a:solidFill>
                  <a:schemeClr val="tx1"/>
                </a:solidFill>
              </a:rPr>
              <a:t>which critically </a:t>
            </a:r>
            <a:r>
              <a:rPr lang="en-US" sz="2800" dirty="0" smtClean="0">
                <a:solidFill>
                  <a:schemeClr val="tx1"/>
                </a:solidFill>
              </a:rPr>
              <a:t>examines </a:t>
            </a:r>
            <a:r>
              <a:rPr lang="en-US" sz="2800" dirty="0">
                <a:solidFill>
                  <a:schemeClr val="tx1"/>
                </a:solidFill>
              </a:rPr>
              <a:t>the moral beliefs and moral </a:t>
            </a:r>
            <a:r>
              <a:rPr lang="en-US" sz="2800" dirty="0" smtClean="0">
                <a:solidFill>
                  <a:schemeClr val="tx1"/>
                </a:solidFill>
              </a:rPr>
              <a:t>standards; </a:t>
            </a:r>
            <a:r>
              <a:rPr lang="en-US" sz="2800" dirty="0">
                <a:solidFill>
                  <a:schemeClr val="tx1"/>
                </a:solidFill>
              </a:rPr>
              <a:t>studies what constitutes good and bad human actions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636" y="6626945"/>
            <a:ext cx="8118764" cy="249385"/>
          </a:xfrm>
        </p:spPr>
        <p:txBody>
          <a:bodyPr/>
          <a:lstStyle/>
          <a:p>
            <a:pPr algn="l"/>
            <a:r>
              <a:rPr lang="en-US" sz="800" b="1" dirty="0" smtClean="0">
                <a:solidFill>
                  <a:schemeClr val="bg1"/>
                </a:solidFill>
              </a:rPr>
              <a:t>© 2013 Cengage Learning. All Rights Reserved. 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21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520569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1" y="406401"/>
            <a:ext cx="7467600" cy="835502"/>
          </a:xfrm>
        </p:spPr>
        <p:txBody>
          <a:bodyPr>
            <a:noAutofit/>
          </a:bodyPr>
          <a:lstStyle/>
          <a:p>
            <a:pPr algn="l"/>
            <a:r>
              <a:rPr lang="en-US" sz="3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In broader terms, the questions that </a:t>
            </a:r>
            <a:r>
              <a:rPr lang="en-US" sz="32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Ethics poses </a:t>
            </a:r>
            <a:r>
              <a:rPr lang="en-US" sz="3200" dirty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take many forms: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388534"/>
            <a:ext cx="7467600" cy="5088466"/>
          </a:xfrm>
        </p:spPr>
        <p:txBody>
          <a:bodyPr anchor="ctr">
            <a:noAutofit/>
          </a:bodyPr>
          <a:lstStyle/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700" dirty="0" smtClean="0">
                <a:solidFill>
                  <a:schemeClr val="tx1"/>
                </a:solidFill>
              </a:rPr>
              <a:t>Do </a:t>
            </a:r>
            <a:r>
              <a:rPr lang="en-US" sz="2700" dirty="0">
                <a:solidFill>
                  <a:schemeClr val="tx1"/>
                </a:solidFill>
              </a:rPr>
              <a:t>we have a moral responsibility toward less fortunate people?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700" dirty="0" smtClean="0">
                <a:solidFill>
                  <a:schemeClr val="tx1"/>
                </a:solidFill>
              </a:rPr>
              <a:t>Is </a:t>
            </a:r>
            <a:r>
              <a:rPr lang="en-US" sz="2700" dirty="0">
                <a:solidFill>
                  <a:schemeClr val="tx1"/>
                </a:solidFill>
              </a:rPr>
              <a:t>it wrong to divulge a secret someone has confided in you?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700" dirty="0" smtClean="0">
                <a:solidFill>
                  <a:schemeClr val="tx1"/>
                </a:solidFill>
              </a:rPr>
              <a:t> Should </a:t>
            </a:r>
            <a:r>
              <a:rPr lang="en-US" sz="2700" dirty="0">
                <a:solidFill>
                  <a:schemeClr val="tx1"/>
                </a:solidFill>
              </a:rPr>
              <a:t>we wear animal </a:t>
            </a:r>
            <a:r>
              <a:rPr lang="en-US" sz="2700" dirty="0" smtClean="0">
                <a:solidFill>
                  <a:schemeClr val="tx1"/>
                </a:solidFill>
              </a:rPr>
              <a:t>skins?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700" dirty="0" smtClean="0">
                <a:solidFill>
                  <a:schemeClr val="tx1"/>
                </a:solidFill>
              </a:rPr>
              <a:t>Should </a:t>
            </a:r>
            <a:r>
              <a:rPr lang="en-US" sz="2700" dirty="0">
                <a:solidFill>
                  <a:schemeClr val="tx1"/>
                </a:solidFill>
              </a:rPr>
              <a:t>we try to keep people alive at all costs, no matter what their physical or mental </a:t>
            </a:r>
            <a:r>
              <a:rPr lang="en-US" sz="2700" dirty="0" smtClean="0">
                <a:solidFill>
                  <a:schemeClr val="tx1"/>
                </a:solidFill>
              </a:rPr>
              <a:t>condition</a:t>
            </a:r>
            <a:r>
              <a:rPr lang="en-US" sz="2700" dirty="0">
                <a:solidFill>
                  <a:schemeClr val="tx1"/>
                </a:solidFill>
              </a:rPr>
              <a:t>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700" dirty="0">
                <a:solidFill>
                  <a:schemeClr val="tx1"/>
                </a:solidFill>
              </a:rPr>
              <a:t>I</a:t>
            </a:r>
            <a:r>
              <a:rPr lang="en-US" sz="2700" dirty="0" smtClean="0">
                <a:solidFill>
                  <a:schemeClr val="tx1"/>
                </a:solidFill>
              </a:rPr>
              <a:t>s </a:t>
            </a:r>
            <a:r>
              <a:rPr lang="en-US" sz="2700" dirty="0">
                <a:solidFill>
                  <a:schemeClr val="tx1"/>
                </a:solidFill>
              </a:rPr>
              <a:t>it wrong to kill someone in self-defense?</a:t>
            </a:r>
          </a:p>
          <a:p>
            <a:pPr marL="457200" indent="-457200" algn="l">
              <a:buFont typeface="Arial" panose="020B0604020202020204" pitchFamily="34" charset="0"/>
              <a:buChar char="•"/>
            </a:pPr>
            <a:r>
              <a:rPr lang="en-US" sz="2700" dirty="0" smtClean="0">
                <a:solidFill>
                  <a:schemeClr val="tx1"/>
                </a:solidFill>
              </a:rPr>
              <a:t>Should </a:t>
            </a:r>
            <a:r>
              <a:rPr lang="en-US" sz="2700" dirty="0">
                <a:solidFill>
                  <a:schemeClr val="tx1"/>
                </a:solidFill>
              </a:rPr>
              <a:t>people be given equal opportunities, regardless of race, religion, or gender?</a:t>
            </a:r>
            <a:endParaRPr lang="en-US" sz="2700" dirty="0" smtClean="0">
              <a:solidFill>
                <a:schemeClr val="tx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636" y="6626945"/>
            <a:ext cx="8118764" cy="249385"/>
          </a:xfrm>
        </p:spPr>
        <p:txBody>
          <a:bodyPr/>
          <a:lstStyle/>
          <a:p>
            <a:pPr algn="l"/>
            <a:r>
              <a:rPr lang="en-US" sz="800" b="1" dirty="0" smtClean="0">
                <a:solidFill>
                  <a:schemeClr val="bg1"/>
                </a:solidFill>
              </a:rPr>
              <a:t>© 2013 Cengage Learning. All Rights Reserved. 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22</a:t>
            </a:fld>
            <a:endParaRPr lang="en-US" sz="8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8444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066800" y="152400"/>
            <a:ext cx="7938052" cy="6477000"/>
          </a:xfrm>
          <a:prstGeom prst="rect">
            <a:avLst/>
          </a:prstGeom>
          <a:solidFill>
            <a:schemeClr val="bg1"/>
          </a:solidFill>
          <a:ln w="38100" cap="rnd">
            <a:noFill/>
            <a:round/>
          </a:ln>
          <a:effectLst>
            <a:outerShdw blurRad="88900" dist="889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52400"/>
            <a:ext cx="914400" cy="6477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95401" y="406401"/>
            <a:ext cx="7467600" cy="835502"/>
          </a:xfrm>
        </p:spPr>
        <p:txBody>
          <a:bodyPr>
            <a:normAutofit/>
          </a:bodyPr>
          <a:lstStyle/>
          <a:p>
            <a:pPr algn="l"/>
            <a:r>
              <a:rPr lang="en-US" sz="4000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itchFamily="18" charset="0"/>
              </a:rPr>
              <a:t>Levels of Ethics:</a:t>
            </a:r>
            <a:endParaRPr lang="en-US" sz="4000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95400" y="1388534"/>
            <a:ext cx="7467600" cy="5088466"/>
          </a:xfrm>
        </p:spPr>
        <p:txBody>
          <a:bodyPr anchor="ctr">
            <a:normAutofit/>
          </a:bodyPr>
          <a:lstStyle/>
          <a:p>
            <a:pPr algn="l"/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34636" y="6626945"/>
            <a:ext cx="8118764" cy="249385"/>
          </a:xfrm>
        </p:spPr>
        <p:txBody>
          <a:bodyPr/>
          <a:lstStyle/>
          <a:p>
            <a:pPr algn="l"/>
            <a:r>
              <a:rPr lang="en-US" sz="800" b="1" dirty="0" smtClean="0">
                <a:solidFill>
                  <a:schemeClr val="bg1"/>
                </a:solidFill>
              </a:rPr>
              <a:t>© 2013 Cengage Learning. All Rights Reserved. </a:t>
            </a:r>
            <a:endParaRPr lang="en-US" sz="800" b="1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>
          <a:xfrm>
            <a:off x="8534400" y="6638280"/>
            <a:ext cx="586906" cy="226714"/>
          </a:xfrm>
        </p:spPr>
        <p:txBody>
          <a:bodyPr/>
          <a:lstStyle/>
          <a:p>
            <a:fld id="{2A7F9223-B69B-4AA9-B6C4-9B69EF94F2BD}" type="slidenum">
              <a:rPr lang="en-US" sz="800" smtClean="0">
                <a:solidFill>
                  <a:schemeClr val="accent1"/>
                </a:solidFill>
              </a:rPr>
              <a:pPr/>
              <a:t>23</a:t>
            </a:fld>
            <a:endParaRPr lang="en-US" sz="800" dirty="0">
              <a:solidFill>
                <a:schemeClr val="accent1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323960"/>
            <a:ext cx="7620000" cy="5262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643072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85309" y="-304800"/>
            <a:ext cx="10510309" cy="7882732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2013 Cengage Learning. All Rights Reserved.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9730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457200" y="-228600"/>
            <a:ext cx="9753600" cy="7322843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2013 Cengage Learning. All Rights Reserved.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738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Terms 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26322" y="-381000"/>
            <a:ext cx="10070322" cy="8226086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2013 Cengage Learning. All Rights Reserved.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56460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Terms </a:t>
            </a:r>
            <a:endParaRPr lang="en-US" dirty="0"/>
          </a:p>
        </p:txBody>
      </p:sp>
      <p:pic>
        <p:nvPicPr>
          <p:cNvPr id="6" name="Content Placeholder 5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032000" y="0"/>
            <a:ext cx="10871199" cy="7239000"/>
          </a:xfrm>
        </p:spPr>
      </p:pic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© 2013 Cengage Learning. All Rights Reserved. 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7F9223-B69B-4AA9-B6C4-9B69EF94F2BD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69532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686800" cy="5105400"/>
          </a:xfrm>
          <a:solidFill>
            <a:schemeClr val="hlink"/>
          </a:solidFill>
        </p:spPr>
        <p:txBody>
          <a:bodyPr>
            <a:normAutofit lnSpcReduction="10000"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Font typeface="Wingdings 2" pitchFamily="18" charset="2"/>
              <a:buNone/>
              <a:defRPr/>
            </a:pPr>
            <a:endParaRPr lang="en-US" sz="2800" dirty="0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Protagoras “Men is the measure of all things.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Everything is relative, depend on their perspectives.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Different societies have different idea of ethics.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There is no absolute right or wrong in the world.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It varies from place to place ,person to person.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Moral laws are based on custom and tradition.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Morality is relative so we should do respect others.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We cannot define and communicate ethical values.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Might is right, ethics is inherited in power game.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Where do you live, do as they do and do respect.</a:t>
            </a: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None/>
              <a:defRPr/>
            </a:pPr>
            <a:endParaRPr lang="en-US" sz="2800" dirty="0" smtClean="0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endParaRPr lang="en-US" sz="2800" dirty="0" smtClean="0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Font typeface="Wingdings 2" pitchFamily="18" charset="2"/>
              <a:buNone/>
              <a:defRPr/>
            </a:pPr>
            <a:endParaRPr lang="en-US" sz="2800" dirty="0" smtClean="0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endParaRPr lang="en-US" sz="2800" dirty="0" smtClean="0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838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1.</a:t>
            </a:r>
            <a:r>
              <a:rPr dirty="0" smtClean="0"/>
              <a:t>Relativism </a:t>
            </a:r>
            <a:endParaRPr dirty="0"/>
          </a:p>
        </p:txBody>
      </p:sp>
      <p:pic>
        <p:nvPicPr>
          <p:cNvPr id="13316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1" y="228600"/>
            <a:ext cx="3276600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8114876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5" name="Rectangle 3"/>
          <p:cNvSpPr>
            <a:spLocks noGrp="1" noChangeArrowheads="1"/>
          </p:cNvSpPr>
          <p:nvPr>
            <p:ph idx="1"/>
          </p:nvPr>
        </p:nvSpPr>
        <p:spPr>
          <a:xfrm>
            <a:off x="228600" y="1219200"/>
            <a:ext cx="8686800" cy="5105400"/>
          </a:xfrm>
          <a:solidFill>
            <a:schemeClr val="hlink"/>
          </a:solidFill>
        </p:spPr>
        <p:txBody>
          <a:bodyPr>
            <a:normAutofit/>
          </a:bodyPr>
          <a:lstStyle/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Font typeface="Wingdings 2" pitchFamily="18" charset="2"/>
              <a:buNone/>
              <a:defRPr/>
            </a:pPr>
            <a:endParaRPr lang="en-US" sz="2800" dirty="0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274320" indent="-274320">
              <a:lnSpc>
                <a:spcPct val="90000"/>
              </a:lnSpc>
              <a:buFont typeface="Wingdings 2"/>
              <a:buChar char=""/>
              <a:defRPr/>
            </a:pP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It </a:t>
            </a:r>
            <a:r>
              <a:rPr lang="en-US" sz="2800" dirty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is the absolute ,universal truth or highest goodness.</a:t>
            </a:r>
          </a:p>
          <a:p>
            <a:pPr marL="274320" indent="-274320">
              <a:lnSpc>
                <a:spcPct val="90000"/>
              </a:lnSpc>
              <a:buFont typeface="Wingdings 2"/>
              <a:buChar char=""/>
              <a:defRPr/>
            </a:pPr>
            <a:r>
              <a:rPr lang="en-US" sz="2800" dirty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There is only one single more code apply to </a:t>
            </a: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all</a:t>
            </a:r>
          </a:p>
          <a:p>
            <a:pPr marL="274320" indent="-274320">
              <a:lnSpc>
                <a:spcPct val="90000"/>
              </a:lnSpc>
              <a:buFont typeface="Wingdings 2"/>
              <a:buChar char=""/>
              <a:defRPr/>
            </a:pP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Something right or wrong are irrespective of  time.</a:t>
            </a:r>
          </a:p>
          <a:p>
            <a:pPr marL="274320" indent="-274320">
              <a:lnSpc>
                <a:spcPct val="90000"/>
              </a:lnSpc>
              <a:buFont typeface="Wingdings 2"/>
              <a:buChar char=""/>
              <a:defRPr/>
            </a:pP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It includes objectives absolute rightness.</a:t>
            </a:r>
          </a:p>
          <a:p>
            <a:pPr marL="274320" indent="-274320">
              <a:lnSpc>
                <a:spcPct val="90000"/>
              </a:lnSpc>
              <a:buFont typeface="Wingdings 2"/>
              <a:buChar char=""/>
              <a:defRPr/>
            </a:pP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There is some foundational principles.</a:t>
            </a:r>
          </a:p>
          <a:p>
            <a:pPr marL="274320" indent="-274320">
              <a:lnSpc>
                <a:spcPct val="90000"/>
              </a:lnSpc>
              <a:buFont typeface="Wingdings 2"/>
              <a:buChar char=""/>
              <a:defRPr/>
            </a:pP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For </a:t>
            </a:r>
            <a:r>
              <a:rPr lang="en-US" sz="2800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e.g</a:t>
            </a: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 killing is always immoral even of for self </a:t>
            </a:r>
            <a:r>
              <a:rPr lang="en-US" sz="2800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defence</a:t>
            </a: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.</a:t>
            </a:r>
          </a:p>
          <a:p>
            <a:pPr marL="274320" indent="-274320">
              <a:lnSpc>
                <a:spcPct val="90000"/>
              </a:lnSpc>
              <a:buFont typeface="Wingdings 2"/>
              <a:buChar char=""/>
              <a:defRPr/>
            </a:pP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Right maybe universal (</a:t>
            </a:r>
            <a:r>
              <a:rPr lang="en-US" sz="2800" dirty="0" err="1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life,liberty,happiness</a:t>
            </a: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)</a:t>
            </a:r>
          </a:p>
          <a:p>
            <a:pPr marL="274320" indent="-274320">
              <a:lnSpc>
                <a:spcPct val="90000"/>
              </a:lnSpc>
              <a:buFont typeface="Wingdings 2"/>
              <a:buChar char=""/>
              <a:defRPr/>
            </a:pPr>
            <a:r>
              <a:rPr lang="en-US" sz="2800" dirty="0" smtClean="0">
                <a:solidFill>
                  <a:srgbClr val="FFFF66"/>
                </a:solidFill>
                <a:effectLst>
                  <a:outerShdw blurRad="38100" dist="38100" dir="2700000" algn="tl">
                    <a:srgbClr val="000000"/>
                  </a:outerShdw>
                </a:effectLst>
              </a:rPr>
              <a:t>There are set of rules to follow in all situations.</a:t>
            </a:r>
          </a:p>
          <a:p>
            <a:pPr marL="274320" indent="-274320" eaLnBrk="1" fontAlgn="auto" hangingPunct="1">
              <a:lnSpc>
                <a:spcPct val="90000"/>
              </a:lnSpc>
              <a:spcAft>
                <a:spcPts val="0"/>
              </a:spcAft>
              <a:buFont typeface="Wingdings 2"/>
              <a:buChar char=""/>
              <a:defRPr/>
            </a:pPr>
            <a:endParaRPr lang="en-US" sz="2800" dirty="0" smtClean="0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Font typeface="Wingdings 2" pitchFamily="18" charset="2"/>
              <a:buNone/>
              <a:defRPr/>
            </a:pPr>
            <a:endParaRPr lang="en-US" sz="2800" dirty="0" smtClean="0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  <a:p>
            <a:pPr marL="0" indent="0" eaLnBrk="1" fontAlgn="auto" hangingPunct="1">
              <a:lnSpc>
                <a:spcPct val="90000"/>
              </a:lnSpc>
              <a:spcAft>
                <a:spcPts val="0"/>
              </a:spcAft>
              <a:buNone/>
              <a:defRPr/>
            </a:pPr>
            <a:endParaRPr lang="en-US" sz="2800" dirty="0" smtClean="0">
              <a:solidFill>
                <a:srgbClr val="FFFF66"/>
              </a:solidFill>
              <a:effectLst>
                <a:outerShdw blurRad="38100" dist="38100" dir="2700000" algn="tl">
                  <a:srgbClr val="000000"/>
                </a:outerShdw>
              </a:effectLst>
            </a:endParaRPr>
          </a:p>
        </p:txBody>
      </p:sp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304800"/>
            <a:ext cx="8229600" cy="8382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Absolutism </a:t>
            </a:r>
            <a:r>
              <a:rPr dirty="0" smtClean="0"/>
              <a:t>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7578278"/>
      </p:ext>
    </p:extLst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1449</TotalTime>
  <Words>1120</Words>
  <Application>Microsoft Office PowerPoint</Application>
  <PresentationFormat>On-screen Show (4:3)</PresentationFormat>
  <Paragraphs>230</Paragraphs>
  <Slides>29</Slides>
  <Notes>23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0" baseType="lpstr">
      <vt:lpstr>Office Theme</vt:lpstr>
      <vt:lpstr>PowerPoint Presentation</vt:lpstr>
      <vt:lpstr>Content </vt:lpstr>
      <vt:lpstr>       Ethics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 Not all uses of ‘should’, ‘ought’ and ‘good’ are moral uses: </vt:lpstr>
      <vt:lpstr>PowerPoint Presentation</vt:lpstr>
      <vt:lpstr>Activity:</vt:lpstr>
      <vt:lpstr>Activity Questions:</vt:lpstr>
      <vt:lpstr>Moral Compass</vt:lpstr>
      <vt:lpstr>Ethics…..</vt:lpstr>
      <vt:lpstr>Ethics</vt:lpstr>
      <vt:lpstr>In broader terms, the questions that Ethics poses take many forms:</vt:lpstr>
      <vt:lpstr>Levels of Ethics:</vt:lpstr>
      <vt:lpstr>PowerPoint Presentation</vt:lpstr>
      <vt:lpstr>PowerPoint Presentation</vt:lpstr>
      <vt:lpstr>Terms </vt:lpstr>
      <vt:lpstr>Terms </vt:lpstr>
      <vt:lpstr>1.Relativism </vt:lpstr>
      <vt:lpstr>Absolutism 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M'Lynn</dc:creator>
  <cp:lastModifiedBy>haroon traders</cp:lastModifiedBy>
  <cp:revision>97</cp:revision>
  <dcterms:created xsi:type="dcterms:W3CDTF">2011-08-11T18:31:05Z</dcterms:created>
  <dcterms:modified xsi:type="dcterms:W3CDTF">2022-07-26T08:47:08Z</dcterms:modified>
</cp:coreProperties>
</file>