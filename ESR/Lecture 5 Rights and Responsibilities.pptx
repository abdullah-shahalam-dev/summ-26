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08" r:id="rId2"/>
    <p:sldId id="326" r:id="rId3"/>
    <p:sldId id="327" r:id="rId4"/>
    <p:sldId id="328" r:id="rId5"/>
    <p:sldId id="277" r:id="rId6"/>
    <p:sldId id="302" r:id="rId7"/>
    <p:sldId id="304" r:id="rId8"/>
    <p:sldId id="303" r:id="rId9"/>
    <p:sldId id="260" r:id="rId10"/>
    <p:sldId id="266" r:id="rId11"/>
    <p:sldId id="269" r:id="rId12"/>
    <p:sldId id="306" r:id="rId13"/>
    <p:sldId id="270" r:id="rId14"/>
    <p:sldId id="271" r:id="rId15"/>
    <p:sldId id="307" r:id="rId16"/>
    <p:sldId id="276" r:id="rId17"/>
    <p:sldId id="278" r:id="rId18"/>
    <p:sldId id="279" r:id="rId19"/>
    <p:sldId id="280" r:id="rId20"/>
    <p:sldId id="283" r:id="rId21"/>
    <p:sldId id="284" r:id="rId22"/>
    <p:sldId id="309" r:id="rId23"/>
    <p:sldId id="286" r:id="rId24"/>
    <p:sldId id="288" r:id="rId25"/>
    <p:sldId id="310" r:id="rId26"/>
    <p:sldId id="311" r:id="rId27"/>
    <p:sldId id="312" r:id="rId28"/>
    <p:sldId id="313" r:id="rId29"/>
    <p:sldId id="314" r:id="rId30"/>
    <p:sldId id="315" r:id="rId31"/>
    <p:sldId id="290" r:id="rId32"/>
    <p:sldId id="292" r:id="rId33"/>
    <p:sldId id="316" r:id="rId34"/>
    <p:sldId id="293" r:id="rId35"/>
    <p:sldId id="317" r:id="rId36"/>
    <p:sldId id="297" r:id="rId37"/>
    <p:sldId id="318" r:id="rId38"/>
    <p:sldId id="320" r:id="rId39"/>
    <p:sldId id="319" r:id="rId40"/>
    <p:sldId id="298" r:id="rId41"/>
    <p:sldId id="321" r:id="rId42"/>
    <p:sldId id="322" r:id="rId43"/>
    <p:sldId id="323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10DF405-023A-4393-A8B1-127001A90CE1}">
          <p14:sldIdLst>
            <p14:sldId id="308"/>
            <p14:sldId id="326"/>
            <p14:sldId id="327"/>
            <p14:sldId id="328"/>
            <p14:sldId id="277"/>
            <p14:sldId id="302"/>
            <p14:sldId id="304"/>
            <p14:sldId id="303"/>
            <p14:sldId id="260"/>
            <p14:sldId id="266"/>
            <p14:sldId id="269"/>
            <p14:sldId id="306"/>
            <p14:sldId id="270"/>
            <p14:sldId id="271"/>
            <p14:sldId id="307"/>
            <p14:sldId id="276"/>
            <p14:sldId id="278"/>
            <p14:sldId id="279"/>
            <p14:sldId id="280"/>
            <p14:sldId id="283"/>
            <p14:sldId id="284"/>
            <p14:sldId id="309"/>
            <p14:sldId id="286"/>
            <p14:sldId id="288"/>
            <p14:sldId id="310"/>
            <p14:sldId id="311"/>
            <p14:sldId id="312"/>
            <p14:sldId id="313"/>
            <p14:sldId id="314"/>
            <p14:sldId id="315"/>
            <p14:sldId id="290"/>
            <p14:sldId id="292"/>
            <p14:sldId id="316"/>
            <p14:sldId id="293"/>
            <p14:sldId id="317"/>
            <p14:sldId id="297"/>
            <p14:sldId id="318"/>
            <p14:sldId id="320"/>
            <p14:sldId id="319"/>
            <p14:sldId id="298"/>
            <p14:sldId id="321"/>
            <p14:sldId id="322"/>
            <p14:sldId id="323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497B76"/>
    <a:srgbClr val="4D837D"/>
    <a:srgbClr val="498781"/>
    <a:srgbClr val="497287"/>
    <a:srgbClr val="57854B"/>
    <a:srgbClr val="567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326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81D4E-7733-4EE0-A3DD-F5946818A9BA}" type="datetimeFigureOut">
              <a:rPr lang="en-US" smtClean="0"/>
              <a:pPr/>
              <a:t>8/10/2022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EE0C1-B772-45F8-A3A5-18C4DC2985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34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482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178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578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66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149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710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726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095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51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702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012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9887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2156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9887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9887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9887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9887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9887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9887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1786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8124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271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1146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7719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1146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4087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1146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4087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1146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890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890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890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89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6730-7A6A-4E94-8403-C90D8CF1FC41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5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B014-8DB4-4FA2-BC9F-8FBD407D56F8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088D1-2617-4DE3-8A25-244173A8D0EC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12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042B0-EA78-4F98-88C0-38AC90D558E3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7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E7DB-0615-4296-9305-B9AC9E84FD16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4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8900-D71E-44C7-B2BA-691F5CC71C04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82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EC04E-09EA-4A29-AC4C-0182D9AD3F80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43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90C7-30B7-4772-B808-01CF426C7842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21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8C3D9-D302-4CD5-AA16-8F3951C6BB57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2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D3FB3-49C8-4615-8C4A-EBCDB67B118E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6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1AF99-8FBD-47CD-82AA-A9C3DB807C2F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807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001">
              <a:srgbClr val="E6E6E6"/>
            </a:gs>
            <a:gs pos="32001">
              <a:srgbClr val="7D8496"/>
            </a:gs>
            <a:gs pos="47000">
              <a:srgbClr val="E6E6E6"/>
            </a:gs>
            <a:gs pos="85001">
              <a:srgbClr val="7D8496"/>
            </a:gs>
            <a:gs pos="100000">
              <a:srgbClr val="E6E6E6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5846D-1949-46C1-8BD8-BAB6E9685B47}" type="datetime1">
              <a:rPr lang="en-US" smtClean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731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hyVJHpiHO8I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7xo4tUMdAMw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6400" y="4495800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2400" b="1" i="1" dirty="0"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362200" y="685800"/>
            <a:ext cx="5486400" cy="5486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r>
              <a:rPr lang="en-US" sz="2400" b="1" i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/>
            </a:r>
            <a:br>
              <a:rPr lang="en-US" sz="2400" b="1" i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</a:br>
            <a:r>
              <a:rPr lang="en-US" sz="2400" b="1" i="1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An Introduction to Human Rights and Responsibilities</a:t>
            </a:r>
            <a:endParaRPr lang="en-US" sz="2400" b="1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05171" y="1143000"/>
            <a:ext cx="7005429" cy="3276600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Chapter </a:t>
            </a:r>
            <a:r>
              <a:rPr lang="en-US" sz="3200" i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5:</a:t>
            </a:r>
            <a:r>
              <a:rPr lang="en-US" sz="44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 </a:t>
            </a:r>
          </a:p>
          <a:p>
            <a:pPr algn="ctr"/>
            <a:r>
              <a:rPr lang="en-US" sz="3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Rights and Responsibilities </a:t>
            </a:r>
            <a:endParaRPr lang="en-US" sz="3600" b="1" dirty="0" smtClean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ush Script MT" pitchFamily="66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35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Natural right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327245"/>
            <a:ext cx="8641804" cy="553075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84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Right&amp; duties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792" y="2348706"/>
            <a:ext cx="4691592" cy="3518694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48706"/>
            <a:ext cx="4691592" cy="351869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66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Duties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48706"/>
            <a:ext cx="4038600" cy="3028950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689" y="3070700"/>
            <a:ext cx="3555751" cy="24919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58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5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6400" y="4495800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2400" b="1" i="1" dirty="0"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28971" y="609600"/>
            <a:ext cx="7005429" cy="5486400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838200"/>
            <a:ext cx="4329684" cy="476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6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6400" y="4495800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2400" b="1" i="1" dirty="0"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28971" y="609600"/>
            <a:ext cx="7005429" cy="5486400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algn="ctr"/>
            <a:endParaRPr lang="en-US" sz="28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A </a:t>
            </a:r>
            <a:r>
              <a:rPr lang="en-US" sz="2800" b="1" dirty="0">
                <a:solidFill>
                  <a:schemeClr val="bg1"/>
                </a:solidFill>
              </a:rPr>
              <a:t>British blacksmith removing the leg irons off a slave, 1907.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849" y="786670"/>
            <a:ext cx="5911953" cy="42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0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3640666"/>
          </a:xfrm>
        </p:spPr>
        <p:txBody>
          <a:bodyPr anchor="ctr"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What do you think about the pictures?</a:t>
            </a:r>
          </a:p>
          <a:p>
            <a:pPr algn="just"/>
            <a:endParaRPr lang="en-US" sz="1100" b="1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How do you feel about them?</a:t>
            </a:r>
          </a:p>
          <a:p>
            <a:pPr algn="just"/>
            <a:endParaRPr lang="en-US" sz="1050" b="1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What is your opinion about slavery?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7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4772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8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6400" y="4495800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2400" b="1" i="1" dirty="0"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28971" y="609600"/>
            <a:ext cx="7005429" cy="5486400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Ota </a:t>
            </a:r>
            <a:r>
              <a:rPr lang="en-US" sz="2800" b="1" dirty="0">
                <a:solidFill>
                  <a:schemeClr val="bg1"/>
                </a:solidFill>
              </a:rPr>
              <a:t>Benga, was put on permanent display in the Bronx Zoo. He was placed in the monkey house, where he was labelled as "The Missing Link," implying that he occupied a lower </a:t>
            </a:r>
            <a:r>
              <a:rPr lang="en-US" sz="2800" b="1" dirty="0" smtClean="0">
                <a:solidFill>
                  <a:schemeClr val="bg1"/>
                </a:solidFill>
              </a:rPr>
              <a:t>rank </a:t>
            </a:r>
            <a:r>
              <a:rPr lang="en-US" sz="2800" b="1" dirty="0">
                <a:solidFill>
                  <a:schemeClr val="bg1"/>
                </a:solidFill>
              </a:rPr>
              <a:t>in the evolutionary ladder than did white people.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990600"/>
            <a:ext cx="54102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7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3640666"/>
          </a:xfrm>
        </p:spPr>
        <p:txBody>
          <a:bodyPr anchor="ctr"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Do you believe that any human being deserves such a treatment? </a:t>
            </a:r>
          </a:p>
          <a:p>
            <a:pPr algn="just"/>
            <a:endParaRPr lang="en-US" sz="1050" b="1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Provide reason to support your answer. </a:t>
            </a:r>
          </a:p>
          <a:p>
            <a:pPr algn="just"/>
            <a:endParaRPr lang="en-US" sz="1050" b="1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If yes, WHY? If no, WHY NOT?  </a:t>
            </a:r>
            <a:endParaRPr lang="en-US" b="1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hlinkClick r:id="rId4"/>
              </a:rPr>
              <a:t>https://www.youtube.com/watch?v=hyVJHpiHO8I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9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2093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5910" y="2532652"/>
            <a:ext cx="7467600" cy="1277348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What are rights?????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10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6296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Right:</a:t>
            </a:r>
            <a:endParaRPr lang="en-US" sz="3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4250266"/>
          </a:xfrm>
        </p:spPr>
        <p:txBody>
          <a:bodyPr anchor="ctr">
            <a:normAutofit/>
          </a:bodyPr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A ‘right’ is a claim to have or do </a:t>
            </a:r>
            <a:r>
              <a:rPr lang="en-US" b="1" dirty="0">
                <a:solidFill>
                  <a:schemeClr val="tx1"/>
                </a:solidFill>
              </a:rPr>
              <a:t>something that is justified </a:t>
            </a:r>
            <a:r>
              <a:rPr lang="en-US" b="1" dirty="0" smtClean="0">
                <a:solidFill>
                  <a:schemeClr val="tx1"/>
                </a:solidFill>
              </a:rPr>
              <a:t>on moral or legal grounds.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OR</a:t>
            </a:r>
            <a:endParaRPr lang="en-US" b="1" dirty="0">
              <a:solidFill>
                <a:schemeClr val="tx1"/>
              </a:solidFill>
            </a:endParaRP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A ‘right’ is a moral or legal entitlement to have or do something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11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2303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Moral &amp; Legal Rights</a:t>
            </a:r>
            <a:endParaRPr lang="en-US" sz="3200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12</a:t>
            </a:fld>
            <a:endParaRPr lang="en-US" sz="800" dirty="0">
              <a:solidFill>
                <a:schemeClr val="accent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74844"/>
              </p:ext>
            </p:extLst>
          </p:nvPr>
        </p:nvGraphicFramePr>
        <p:xfrm>
          <a:off x="1676400" y="1828800"/>
          <a:ext cx="6629400" cy="326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/>
                <a:gridCol w="3314700"/>
              </a:tblGrid>
              <a:tr h="1041400">
                <a:tc>
                  <a:txBody>
                    <a:bodyPr/>
                    <a:lstStyle/>
                    <a:p>
                      <a:endParaRPr lang="en-US" sz="2800" dirty="0" smtClean="0"/>
                    </a:p>
                    <a:p>
                      <a:pPr algn="ctr"/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Moral</a:t>
                      </a:r>
                      <a:r>
                        <a:rPr lang="en-US" sz="2800" baseline="0" dirty="0" smtClean="0">
                          <a:solidFill>
                            <a:schemeClr val="bg1"/>
                          </a:solidFill>
                        </a:rPr>
                        <a:t> Rights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 smtClean="0"/>
                    </a:p>
                    <a:p>
                      <a:pPr algn="ctr"/>
                      <a:r>
                        <a:rPr lang="en-US" sz="2800" dirty="0" smtClean="0"/>
                        <a:t>Legal Right</a:t>
                      </a:r>
                      <a:endParaRPr lang="en-US" sz="28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204470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Justified only on moral ground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endParaRPr lang="en-US" sz="280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Are not supported by the law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Justified</a:t>
                      </a:r>
                      <a:r>
                        <a:rPr lang="en-US" sz="2800" baseline="0" dirty="0" smtClean="0">
                          <a:solidFill>
                            <a:schemeClr val="bg1"/>
                          </a:solidFill>
                        </a:rPr>
                        <a:t> on legal grounds (as well as moral grounds)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Are supported by the law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7290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2026" y="291192"/>
            <a:ext cx="7467600" cy="721896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Activity: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371600"/>
            <a:ext cx="7938052" cy="5257800"/>
          </a:xfrm>
        </p:spPr>
        <p:txBody>
          <a:bodyPr anchor="ctr"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b="1" dirty="0" smtClean="0">
                <a:solidFill>
                  <a:schemeClr val="tx1"/>
                </a:solidFill>
              </a:rPr>
              <a:t>List the things you would have in your ideal classroom</a:t>
            </a:r>
            <a:endParaRPr lang="en-US" sz="2600" b="1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b="1" dirty="0" smtClean="0">
                <a:solidFill>
                  <a:schemeClr val="tx1"/>
                </a:solidFill>
              </a:rPr>
              <a:t>You may identify objects (such as tablets, comfortable chairs &amp; books) as well as concept (such as respect, safety, FREE TIME &amp; a clean environment)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b="1" dirty="0" smtClean="0">
                <a:solidFill>
                  <a:schemeClr val="tx1"/>
                </a:solidFill>
              </a:rPr>
              <a:t>Go through your list and decide whether each item is:</a:t>
            </a:r>
          </a:p>
          <a:p>
            <a:pPr marL="1485900" lvl="2" indent="-571500" algn="l">
              <a:buFont typeface="+mj-lt"/>
              <a:buAutoNum type="romanLcPeriod"/>
            </a:pPr>
            <a:r>
              <a:rPr lang="en-US" sz="2600" b="1" dirty="0" smtClean="0">
                <a:solidFill>
                  <a:schemeClr val="tx1"/>
                </a:solidFill>
              </a:rPr>
              <a:t>a ‘want’ ( nice to have but not essential)</a:t>
            </a:r>
          </a:p>
          <a:p>
            <a:pPr marL="1485900" lvl="2" indent="-571500" algn="l">
              <a:buFont typeface="+mj-lt"/>
              <a:buAutoNum type="romanLcPeriod"/>
            </a:pPr>
            <a:r>
              <a:rPr lang="en-US" sz="2600" b="1" dirty="0" smtClean="0">
                <a:solidFill>
                  <a:schemeClr val="tx1"/>
                </a:solidFill>
              </a:rPr>
              <a:t>a ‘need’ (essential to have in good class room)</a:t>
            </a:r>
          </a:p>
          <a:p>
            <a:pPr marL="1485900" lvl="2" indent="-571500" algn="l">
              <a:buFont typeface="+mj-lt"/>
              <a:buAutoNum type="romanLcPeriod"/>
            </a:pPr>
            <a:r>
              <a:rPr lang="en-US" sz="2600" b="1" dirty="0" smtClean="0">
                <a:solidFill>
                  <a:schemeClr val="tx1"/>
                </a:solidFill>
              </a:rPr>
              <a:t>a ‘right’ (so important to have in the classroom that you have a right to expect it)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13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57303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WANTS, NEEDS </a:t>
            </a:r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&amp; RIGHTS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5088466"/>
          </a:xfrm>
        </p:spPr>
        <p:txBody>
          <a:bodyPr anchor="ctr">
            <a:normAutofit/>
          </a:bodyPr>
          <a:lstStyle/>
          <a:p>
            <a:endParaRPr lang="en-US" sz="2800" b="1" dirty="0" smtClean="0">
              <a:solidFill>
                <a:schemeClr val="tx1"/>
              </a:solidFill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  <a:p>
            <a:endParaRPr lang="en-US" sz="2800" b="1" dirty="0" smtClean="0">
              <a:solidFill>
                <a:schemeClr val="tx1"/>
              </a:solidFill>
            </a:endParaRPr>
          </a:p>
          <a:p>
            <a:pPr algn="just"/>
            <a:r>
              <a:rPr lang="en-US" sz="2800" b="1" dirty="0" smtClean="0">
                <a:solidFill>
                  <a:schemeClr val="tx1"/>
                </a:solidFill>
              </a:rPr>
              <a:t>Some </a:t>
            </a:r>
            <a:r>
              <a:rPr lang="en-US" sz="2800" b="1" dirty="0">
                <a:solidFill>
                  <a:schemeClr val="tx1"/>
                </a:solidFill>
              </a:rPr>
              <a:t>things are more important than others to help us thrive and reach our full potential. Let's think about what things we might want and need, and what we have a right to expect in </a:t>
            </a:r>
            <a:r>
              <a:rPr lang="en-US" sz="2800" b="1" dirty="0" smtClean="0">
                <a:solidFill>
                  <a:schemeClr val="tx1"/>
                </a:solidFill>
              </a:rPr>
              <a:t>our life</a:t>
            </a:r>
          </a:p>
          <a:p>
            <a:pPr algn="l"/>
            <a:endParaRPr lang="en-US" sz="2800" b="1" dirty="0">
              <a:solidFill>
                <a:schemeClr val="tx1"/>
              </a:solidFill>
            </a:endParaRPr>
          </a:p>
          <a:p>
            <a:pPr algn="l"/>
            <a:endParaRPr lang="en-US" sz="2800" b="1" dirty="0" smtClean="0">
              <a:solidFill>
                <a:schemeClr val="tx1"/>
              </a:solidFill>
            </a:endParaRPr>
          </a:p>
          <a:p>
            <a:pPr algn="l"/>
            <a:endParaRPr lang="en-US" sz="2800" b="1" dirty="0">
              <a:solidFill>
                <a:schemeClr val="tx1"/>
              </a:solidFill>
            </a:endParaRPr>
          </a:p>
          <a:p>
            <a:pPr algn="l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14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7121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WANTS, NEEDS </a:t>
            </a:r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&amp; RIGHTS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5088466"/>
          </a:xfrm>
        </p:spPr>
        <p:txBody>
          <a:bodyPr anchor="ctr">
            <a:normAutofit/>
          </a:bodyPr>
          <a:lstStyle/>
          <a:p>
            <a:endParaRPr lang="en-US" sz="2800" b="1" dirty="0" smtClean="0">
              <a:solidFill>
                <a:schemeClr val="tx1"/>
              </a:solidFill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  <a:p>
            <a:endParaRPr lang="en-US" sz="2800" b="1" dirty="0" smtClean="0">
              <a:solidFill>
                <a:schemeClr val="tx1"/>
              </a:solidFill>
            </a:endParaRPr>
          </a:p>
          <a:p>
            <a:pPr algn="l"/>
            <a:endParaRPr lang="en-US" sz="2800" b="1" dirty="0">
              <a:solidFill>
                <a:schemeClr val="tx1"/>
              </a:solidFill>
            </a:endParaRPr>
          </a:p>
          <a:p>
            <a:pPr algn="l"/>
            <a:endParaRPr lang="en-US" sz="2800" b="1" dirty="0" smtClean="0">
              <a:solidFill>
                <a:schemeClr val="tx1"/>
              </a:solidFill>
            </a:endParaRPr>
          </a:p>
          <a:p>
            <a:pPr algn="l"/>
            <a:endParaRPr lang="en-US" sz="2800" b="1" dirty="0">
              <a:solidFill>
                <a:schemeClr val="tx1"/>
              </a:solidFill>
            </a:endParaRPr>
          </a:p>
          <a:p>
            <a:pPr algn="l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15</a:t>
            </a:fld>
            <a:endParaRPr lang="en-US" sz="800" dirty="0">
              <a:solidFill>
                <a:schemeClr val="accent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098774"/>
              </p:ext>
            </p:extLst>
          </p:nvPr>
        </p:nvGraphicFramePr>
        <p:xfrm>
          <a:off x="1447800" y="1495904"/>
          <a:ext cx="7086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76400"/>
                <a:gridCol w="1600200"/>
                <a:gridCol w="1524000"/>
              </a:tblGrid>
              <a:tr h="37084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Want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Need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Rights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Shelter 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Personal room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IPhone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Fair treatment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Car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Clean air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Freedom to Practice</a:t>
                      </a:r>
                      <a:r>
                        <a:rPr lang="en-US" sz="2400" baseline="0" dirty="0" smtClean="0">
                          <a:solidFill>
                            <a:schemeClr val="bg1"/>
                          </a:solidFill>
                        </a:rPr>
                        <a:t> religion 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91200" y="22098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91400" y="22098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67200" y="27432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267200" y="32766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791200" y="27432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391400" y="27432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91400" y="32766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267200" y="42672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791200" y="37338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267200" y="37338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791200" y="32766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391400" y="37338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267200" y="54864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791200" y="54864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391400" y="48006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791200" y="48006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267200" y="48006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391400" y="42672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791200" y="42672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391400" y="54864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267200" y="2209800"/>
            <a:ext cx="533400" cy="152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765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Positive Rights and Negatives Rights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650706" cy="5088466"/>
          </a:xfrm>
        </p:spPr>
        <p:txBody>
          <a:bodyPr anchor="ctr">
            <a:normAutofit/>
          </a:bodyPr>
          <a:lstStyle/>
          <a:p>
            <a:pPr algn="l"/>
            <a:r>
              <a:rPr lang="en-US" sz="2800" b="1" dirty="0" smtClean="0">
                <a:solidFill>
                  <a:schemeClr val="tx1"/>
                </a:solidFill>
              </a:rPr>
              <a:t>Rights to have Something </a:t>
            </a:r>
            <a:r>
              <a:rPr lang="en-US" sz="2800" b="1" dirty="0">
                <a:solidFill>
                  <a:schemeClr val="tx1"/>
                </a:solidFill>
              </a:rPr>
              <a:t>(</a:t>
            </a:r>
            <a:r>
              <a:rPr lang="en-US" sz="2800" b="1" dirty="0" smtClean="0">
                <a:solidFill>
                  <a:schemeClr val="tx1"/>
                </a:solidFill>
              </a:rPr>
              <a:t>positive rights)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tx1"/>
                </a:solidFill>
              </a:rPr>
              <a:t>The right to health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tx1"/>
                </a:solidFill>
              </a:rPr>
              <a:t>The right to have privacy </a:t>
            </a:r>
          </a:p>
          <a:p>
            <a:pPr algn="l"/>
            <a:endParaRPr lang="en-US" sz="2800" b="1" dirty="0" smtClean="0">
              <a:solidFill>
                <a:schemeClr val="tx1"/>
              </a:solidFill>
            </a:endParaRPr>
          </a:p>
          <a:p>
            <a:pPr algn="l"/>
            <a:r>
              <a:rPr lang="en-US" sz="2800" b="1" dirty="0" smtClean="0">
                <a:solidFill>
                  <a:schemeClr val="tx1"/>
                </a:solidFill>
              </a:rPr>
              <a:t>Rights to be free from something (negative rights)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tx1"/>
                </a:solidFill>
              </a:rPr>
              <a:t>The right to be free from slavery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tx1"/>
                </a:solidFill>
              </a:rPr>
              <a:t>The right to be free from discrimination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16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507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Underlying Values of Human Rights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4783666"/>
          </a:xfrm>
        </p:spPr>
        <p:txBody>
          <a:bodyPr anchor="ctr">
            <a:normAutofit/>
          </a:bodyPr>
          <a:lstStyle/>
          <a:p>
            <a:pPr algn="l"/>
            <a:r>
              <a:rPr lang="en-US" sz="2800" b="1" dirty="0" smtClean="0">
                <a:solidFill>
                  <a:schemeClr val="tx1"/>
                </a:solidFill>
              </a:rPr>
              <a:t>What do you think the underlying values of human rights are?</a:t>
            </a:r>
          </a:p>
          <a:p>
            <a:pPr algn="l"/>
            <a:r>
              <a:rPr lang="en-US" sz="2800" b="1" dirty="0" smtClean="0">
                <a:solidFill>
                  <a:schemeClr val="tx1"/>
                </a:solidFill>
              </a:rPr>
              <a:t>Examples: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tx1"/>
                </a:solidFill>
              </a:rPr>
              <a:t>What value/values we emphasize on when we demand that like a boy, a girl child should also have education?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tx1"/>
                </a:solidFill>
              </a:rPr>
              <a:t>What value(s) is stressed when we demand that one should be allowed to practice ones culture and religion?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17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22670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Underlying Values of Human Rights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2306" y="1236134"/>
            <a:ext cx="7467600" cy="4326466"/>
          </a:xfrm>
        </p:spPr>
        <p:txBody>
          <a:bodyPr anchor="ctr">
            <a:normAutofit fontScale="92500" lnSpcReduction="20000"/>
          </a:bodyPr>
          <a:lstStyle/>
          <a:p>
            <a:pPr algn="just"/>
            <a:endParaRPr lang="en-US" sz="2800" b="1" dirty="0" smtClean="0">
              <a:solidFill>
                <a:schemeClr val="tx1"/>
              </a:solidFill>
            </a:endParaRPr>
          </a:p>
          <a:p>
            <a:pPr algn="just"/>
            <a:r>
              <a:rPr lang="en-US" sz="3000" b="1" dirty="0" smtClean="0">
                <a:solidFill>
                  <a:schemeClr val="tx1"/>
                </a:solidFill>
              </a:rPr>
              <a:t>Some key underlying values of human rights are:</a:t>
            </a:r>
          </a:p>
          <a:p>
            <a:pPr algn="just"/>
            <a:endParaRPr lang="en-US" sz="1500" b="1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chemeClr val="tx1"/>
                </a:solidFill>
              </a:rPr>
              <a:t>Equality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chemeClr val="tx1"/>
                </a:solidFill>
              </a:rPr>
              <a:t>Respect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chemeClr val="tx1"/>
                </a:solidFill>
              </a:rPr>
              <a:t>Freedom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chemeClr val="tx1"/>
                </a:solidFill>
              </a:rPr>
              <a:t>Dignity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chemeClr val="tx1"/>
                </a:solidFill>
              </a:rPr>
              <a:t>Justice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chemeClr val="tx1"/>
                </a:solidFill>
              </a:rPr>
              <a:t>Golden rule: ‘treat others as you wish to be treated</a:t>
            </a:r>
            <a:r>
              <a:rPr lang="en-US" sz="3000" dirty="0" smtClean="0">
                <a:solidFill>
                  <a:schemeClr val="tx1"/>
                </a:solidFill>
              </a:rPr>
              <a:t>’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18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9099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Brief History of Human Rights 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4783666"/>
          </a:xfrm>
        </p:spPr>
        <p:txBody>
          <a:bodyPr anchor="ctr"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The idea </a:t>
            </a:r>
            <a:r>
              <a:rPr lang="en-US" sz="2800" dirty="0">
                <a:solidFill>
                  <a:schemeClr val="tx1"/>
                </a:solidFill>
              </a:rPr>
              <a:t>that individuals have basic </a:t>
            </a:r>
            <a:r>
              <a:rPr lang="en-US" sz="2800" dirty="0" smtClean="0">
                <a:solidFill>
                  <a:schemeClr val="tx1"/>
                </a:solidFill>
              </a:rPr>
              <a:t>rights in its current form is relatively new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The Constitution of Medina (622/624) ; first recorded declarations of human rights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</a:t>
            </a:r>
            <a:r>
              <a:rPr lang="en-US" sz="2800" dirty="0" smtClean="0">
                <a:solidFill>
                  <a:schemeClr val="tx1"/>
                </a:solidFill>
              </a:rPr>
              <a:t>he </a:t>
            </a:r>
            <a:r>
              <a:rPr lang="en-US" sz="2800" dirty="0">
                <a:solidFill>
                  <a:schemeClr val="tx1"/>
                </a:solidFill>
              </a:rPr>
              <a:t>Magna </a:t>
            </a:r>
            <a:r>
              <a:rPr lang="en-US" sz="2800" dirty="0" smtClean="0">
                <a:solidFill>
                  <a:schemeClr val="tx1"/>
                </a:solidFill>
              </a:rPr>
              <a:t>Carta (1215)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Universal </a:t>
            </a:r>
            <a:r>
              <a:rPr lang="en-US" sz="2800" dirty="0">
                <a:solidFill>
                  <a:schemeClr val="tx1"/>
                </a:solidFill>
              </a:rPr>
              <a:t>Declaration of Human Rights </a:t>
            </a:r>
            <a:r>
              <a:rPr lang="en-US" sz="2800" dirty="0" smtClean="0">
                <a:solidFill>
                  <a:schemeClr val="tx1"/>
                </a:solidFill>
              </a:rPr>
              <a:t>(1948)</a:t>
            </a:r>
            <a:endParaRPr lang="en-US" sz="2800" dirty="0">
              <a:solidFill>
                <a:schemeClr val="tx1"/>
              </a:solidFill>
            </a:endParaRPr>
          </a:p>
          <a:p>
            <a:pPr algn="l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19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90548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Medina Charter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59599"/>
            <a:ext cx="8260306" cy="5143881"/>
          </a:xfrm>
        </p:spPr>
        <p:txBody>
          <a:bodyPr anchor="ctr">
            <a:no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sz="2700" dirty="0" smtClean="0">
                <a:solidFill>
                  <a:schemeClr val="tx1"/>
                </a:solidFill>
              </a:rPr>
              <a:t>Agreement between Islamic                             Prophet </a:t>
            </a:r>
            <a:r>
              <a:rPr lang="en-US" sz="2700" dirty="0" smtClean="0">
                <a:solidFill>
                  <a:schemeClr val="tx1"/>
                </a:solidFill>
              </a:rPr>
              <a:t>Muhammad (P.B.U.H) </a:t>
            </a:r>
            <a:r>
              <a:rPr lang="en-US" sz="2700" dirty="0" smtClean="0">
                <a:solidFill>
                  <a:schemeClr val="tx1"/>
                </a:solidFill>
              </a:rPr>
              <a:t>and                                             people of Medina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700" dirty="0" smtClean="0">
                <a:solidFill>
                  <a:schemeClr val="tx1"/>
                </a:solidFill>
              </a:rPr>
              <a:t>Based on the idea that                                    freedom, justice &amp; equality                                             are important</a:t>
            </a:r>
          </a:p>
          <a:p>
            <a:pPr algn="l"/>
            <a:endParaRPr lang="en-US" sz="2700" dirty="0" smtClean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20</a:t>
            </a:fld>
            <a:endParaRPr lang="en-US" sz="800" dirty="0">
              <a:solidFill>
                <a:schemeClr val="accent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  <a14:imgEffect>
                      <a14:sharpenSoften amount="-10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914" y="1524000"/>
            <a:ext cx="3309938" cy="48006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491941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970968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Magna Carta Libertatum; "the Great Charter of the Liberties"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4564" y="1359599"/>
            <a:ext cx="7761542" cy="4203001"/>
          </a:xfrm>
        </p:spPr>
        <p:txBody>
          <a:bodyPr anchor="ctr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hlinkClick r:id="rId4"/>
              </a:rPr>
              <a:t>https://www.youtube.com/watch?v=7xo4tUMdAMw</a:t>
            </a:r>
            <a:endParaRPr lang="en-US" sz="2400" dirty="0" smtClean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21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8629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The Universal Declaration of HUMAN RIGHTS </a:t>
            </a:r>
            <a:endParaRPr lang="en-US" sz="3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4564" y="1359599"/>
            <a:ext cx="7761542" cy="4203001"/>
          </a:xfrm>
        </p:spPr>
        <p:txBody>
          <a:bodyPr anchor="ctr">
            <a:no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The most widely used human rights declaration today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Formed by United Nations just after world war II 1948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Unfortunately it is a declaration not a law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22</a:t>
            </a:fld>
            <a:endParaRPr lang="en-US" sz="800" dirty="0">
              <a:solidFill>
                <a:schemeClr val="accent1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038600"/>
            <a:ext cx="7785652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570454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Main Provisions of UDHR</a:t>
            </a:r>
            <a:endParaRPr lang="en-US" sz="3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310" y="1676400"/>
            <a:ext cx="7761542" cy="4703614"/>
          </a:xfrm>
        </p:spPr>
        <p:txBody>
          <a:bodyPr anchor="ctr">
            <a:noAutofit/>
          </a:bodyPr>
          <a:lstStyle/>
          <a:p>
            <a:pPr algn="l"/>
            <a:r>
              <a:rPr lang="en-US" sz="2800" dirty="0">
                <a:solidFill>
                  <a:schemeClr val="tx1"/>
                </a:solidFill>
              </a:rPr>
              <a:t>https://www.youtube.com/watch?v=hTlrSYbCbHE</a:t>
            </a:r>
          </a:p>
          <a:p>
            <a:pPr algn="l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23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2170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WHAT HUMAN RIGHTS DO WE HAVE?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4564" y="1359599"/>
            <a:ext cx="7761542" cy="4203001"/>
          </a:xfrm>
        </p:spPr>
        <p:txBody>
          <a:bodyPr anchor="ctr">
            <a:noAutofit/>
          </a:bodyPr>
          <a:lstStyle/>
          <a:p>
            <a:pPr algn="just"/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Which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human right is represented in this picture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24</a:t>
            </a:fld>
            <a:endParaRPr lang="en-US" sz="800" dirty="0">
              <a:solidFill>
                <a:schemeClr val="accent1"/>
              </a:solidFill>
            </a:endParaRPr>
          </a:p>
        </p:txBody>
      </p:sp>
      <p:pic>
        <p:nvPicPr>
          <p:cNvPr id="6146" name="Picture 2" descr="C:\Users\Dell\Desktop\3rd Session\hr-picture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650" y="2438400"/>
            <a:ext cx="7518352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40517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WHAT HUMAN RIGHTS DO WE HAVE?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4564" y="1359599"/>
            <a:ext cx="7761542" cy="4203001"/>
          </a:xfrm>
        </p:spPr>
        <p:txBody>
          <a:bodyPr anchor="ctr">
            <a:noAutofit/>
          </a:bodyPr>
          <a:lstStyle/>
          <a:p>
            <a:pPr algn="just"/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Which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human right is represented in this picture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25</a:t>
            </a:fld>
            <a:endParaRPr lang="en-US" sz="800" dirty="0">
              <a:solidFill>
                <a:schemeClr val="accent1"/>
              </a:solidFill>
            </a:endParaRPr>
          </a:p>
        </p:txBody>
      </p:sp>
      <p:pic>
        <p:nvPicPr>
          <p:cNvPr id="7170" name="Picture 2" descr="C:\Users\Dell\Desktop\3rd Session\hr-picture-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650" y="2583873"/>
            <a:ext cx="7518352" cy="351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3322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WHAT HUMAN RIGHTS DO WE HAVE?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4564" y="1359599"/>
            <a:ext cx="7761542" cy="4203001"/>
          </a:xfrm>
        </p:spPr>
        <p:txBody>
          <a:bodyPr anchor="ctr">
            <a:noAutofit/>
          </a:bodyPr>
          <a:lstStyle/>
          <a:p>
            <a:pPr algn="just"/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Which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human right is represented in this picture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26</a:t>
            </a:fld>
            <a:endParaRPr lang="en-US" sz="800" dirty="0">
              <a:solidFill>
                <a:schemeClr val="accent1"/>
              </a:solidFill>
            </a:endParaRPr>
          </a:p>
        </p:txBody>
      </p:sp>
      <p:pic>
        <p:nvPicPr>
          <p:cNvPr id="8194" name="Picture 2" descr="C:\Users\Dell\Desktop\3rd Session\hr-picture-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319" y="2438400"/>
            <a:ext cx="7339013" cy="389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3760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WHAT HUMAN RIGHTS DO WE HAVE?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4564" y="1359599"/>
            <a:ext cx="7761542" cy="4203001"/>
          </a:xfrm>
        </p:spPr>
        <p:txBody>
          <a:bodyPr anchor="ctr">
            <a:noAutofit/>
          </a:bodyPr>
          <a:lstStyle/>
          <a:p>
            <a:pPr algn="just"/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Which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human right is represented in this picture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27</a:t>
            </a:fld>
            <a:endParaRPr lang="en-US" sz="800" dirty="0">
              <a:solidFill>
                <a:schemeClr val="accent1"/>
              </a:solidFill>
            </a:endParaRPr>
          </a:p>
        </p:txBody>
      </p:sp>
      <p:pic>
        <p:nvPicPr>
          <p:cNvPr id="9218" name="Picture 2" descr="C:\Users\Dell\Desktop\3rd Session\hr-picture-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519" y="2518064"/>
            <a:ext cx="7186613" cy="3806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3760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WHAT HUMAN RIGHTS DO WE HAVE?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4564" y="1359599"/>
            <a:ext cx="7761542" cy="4203001"/>
          </a:xfrm>
        </p:spPr>
        <p:txBody>
          <a:bodyPr anchor="ctr">
            <a:noAutofit/>
          </a:bodyPr>
          <a:lstStyle/>
          <a:p>
            <a:pPr algn="just"/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Which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human right is represented in this picture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28</a:t>
            </a:fld>
            <a:endParaRPr lang="en-US" sz="800" dirty="0">
              <a:solidFill>
                <a:schemeClr val="accent1"/>
              </a:solidFill>
            </a:endParaRPr>
          </a:p>
        </p:txBody>
      </p:sp>
      <p:pic>
        <p:nvPicPr>
          <p:cNvPr id="10242" name="Picture 2" descr="C:\Users\Dell\Desktop\3rd Session\hr-picture-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327" y="2514600"/>
            <a:ext cx="7466997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3760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WHAT HUMAN RIGHTS DO WE HAVE?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4564" y="1359599"/>
            <a:ext cx="7761542" cy="4203001"/>
          </a:xfrm>
        </p:spPr>
        <p:txBody>
          <a:bodyPr anchor="ctr">
            <a:noAutofit/>
          </a:bodyPr>
          <a:lstStyle/>
          <a:p>
            <a:pPr algn="just"/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Which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human right is represented in this picture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29</a:t>
            </a:fld>
            <a:endParaRPr lang="en-US" sz="800" dirty="0">
              <a:solidFill>
                <a:schemeClr val="accent1"/>
              </a:solidFill>
            </a:endParaRPr>
          </a:p>
        </p:txBody>
      </p:sp>
      <p:pic>
        <p:nvPicPr>
          <p:cNvPr id="11266" name="Picture 2" descr="C:\Users\Dell\Desktop\3rd Session\hr-picture-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551" y="2514600"/>
            <a:ext cx="716055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6677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30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6400" y="4495800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2400" b="1" i="1" dirty="0"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1" y="1226127"/>
            <a:ext cx="6705600" cy="4343400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sz="2800" b="1" dirty="0" smtClean="0">
              <a:solidFill>
                <a:schemeClr val="bg1"/>
              </a:solidFill>
            </a:endParaRPr>
          </a:p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Rights and Responsibilities </a:t>
            </a:r>
          </a:p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go hand in hand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4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835502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Rights presume Responsibility   </a:t>
            </a:r>
            <a:endParaRPr lang="en-US" sz="3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4564" y="1359599"/>
            <a:ext cx="7761542" cy="4203001"/>
          </a:xfrm>
        </p:spPr>
        <p:txBody>
          <a:bodyPr anchor="ctr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Y</a:t>
            </a:r>
            <a:r>
              <a:rPr lang="en-US" sz="2800" dirty="0" smtClean="0">
                <a:solidFill>
                  <a:schemeClr val="tx1"/>
                </a:solidFill>
              </a:rPr>
              <a:t>our right becomes someone else’s responsibility and someone else’s right your responsibility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Your right becomes your responsibility too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Principle of ‘reciprocity’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31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78984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4564" y="609600"/>
            <a:ext cx="7761542" cy="5472545"/>
          </a:xfrm>
        </p:spPr>
        <p:txBody>
          <a:bodyPr anchor="ctr">
            <a:noAutofit/>
          </a:bodyPr>
          <a:lstStyle/>
          <a:p>
            <a:pPr algn="l"/>
            <a:r>
              <a:rPr lang="en-US" sz="2800" dirty="0" smtClean="0">
                <a:solidFill>
                  <a:schemeClr val="tx1"/>
                </a:solidFill>
              </a:rPr>
              <a:t>Read </a:t>
            </a:r>
            <a:r>
              <a:rPr lang="en-US" sz="2800" dirty="0">
                <a:solidFill>
                  <a:schemeClr val="tx1"/>
                </a:solidFill>
              </a:rPr>
              <a:t>the following rights and use your own words to rephrase them as </a:t>
            </a:r>
            <a:r>
              <a:rPr lang="en-US" sz="2800" dirty="0" smtClean="0">
                <a:solidFill>
                  <a:schemeClr val="tx1"/>
                </a:solidFill>
              </a:rPr>
              <a:t>personal responsibilities:</a:t>
            </a:r>
          </a:p>
          <a:p>
            <a:pPr algn="l"/>
            <a:endParaRPr lang="en-US" sz="2800" dirty="0">
              <a:solidFill>
                <a:schemeClr val="tx1"/>
              </a:solidFill>
            </a:endParaRPr>
          </a:p>
          <a:p>
            <a:pPr algn="l"/>
            <a:r>
              <a:rPr lang="en-US" sz="2800" dirty="0" smtClean="0">
                <a:solidFill>
                  <a:schemeClr val="tx1"/>
                </a:solidFill>
              </a:rPr>
              <a:t>Question1.</a:t>
            </a:r>
          </a:p>
          <a:p>
            <a:pPr algn="l"/>
            <a:endParaRPr lang="en-US" sz="2800" dirty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I </a:t>
            </a:r>
            <a:r>
              <a:rPr lang="en-US" b="1" dirty="0">
                <a:solidFill>
                  <a:schemeClr val="tx1"/>
                </a:solidFill>
              </a:rPr>
              <a:t>have a right to feel </a:t>
            </a:r>
            <a:r>
              <a:rPr lang="en-US" b="1" dirty="0" smtClean="0">
                <a:solidFill>
                  <a:schemeClr val="tx1"/>
                </a:solidFill>
              </a:rPr>
              <a:t>safe</a:t>
            </a:r>
          </a:p>
          <a:p>
            <a:pPr algn="l"/>
            <a:endParaRPr lang="en-US" sz="2800" b="1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endParaRPr lang="en-US" sz="2800" b="1" dirty="0">
              <a:solidFill>
                <a:schemeClr val="tx1"/>
              </a:solidFill>
            </a:endParaRPr>
          </a:p>
          <a:p>
            <a:pPr algn="l"/>
            <a:endParaRPr 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32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" name="Action Button: Forward or Next 3">
            <a:hlinkClick r:id="" action="ppaction://hlinkshowjump?jump=nextslide" highlightClick="1">
              <a:snd r:embed="rId4" name="arrow.wav"/>
            </a:hlinkClick>
          </p:cNvPr>
          <p:cNvSpPr/>
          <p:nvPr/>
        </p:nvSpPr>
        <p:spPr>
          <a:xfrm>
            <a:off x="4038600" y="4419600"/>
            <a:ext cx="1524000" cy="838200"/>
          </a:xfrm>
          <a:prstGeom prst="actionButtonForwardNex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594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59599"/>
            <a:ext cx="6858000" cy="4203001"/>
          </a:xfrm>
        </p:spPr>
        <p:txBody>
          <a:bodyPr anchor="ctr">
            <a:noAutofit/>
          </a:bodyPr>
          <a:lstStyle/>
          <a:p>
            <a:pPr algn="l"/>
            <a:r>
              <a:rPr lang="en-US" sz="2800" b="1" dirty="0" smtClean="0">
                <a:solidFill>
                  <a:srgbClr val="000000"/>
                </a:solidFill>
              </a:rPr>
              <a:t>Answer: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I have a responsibility to behave in a way that will keep myself and others safe</a:t>
            </a:r>
            <a:endParaRPr lang="en-US" b="1" dirty="0" smtClean="0">
              <a:solidFill>
                <a:schemeClr val="tx1"/>
              </a:solidFill>
            </a:endParaRPr>
          </a:p>
          <a:p>
            <a:endParaRPr 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33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15305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25104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34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6800" y="1263430"/>
            <a:ext cx="75233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b="1" dirty="0" smtClean="0"/>
          </a:p>
          <a:p>
            <a:r>
              <a:rPr lang="en-US" sz="2800" b="1" dirty="0" smtClean="0"/>
              <a:t>Question 2:</a:t>
            </a:r>
            <a:endParaRPr lang="en-US" sz="2800" b="1" dirty="0"/>
          </a:p>
          <a:p>
            <a:endParaRPr lang="en-US" sz="2800" b="1" dirty="0" smtClean="0"/>
          </a:p>
          <a:p>
            <a:r>
              <a:rPr lang="en-US" sz="2800" b="1" dirty="0" smtClean="0"/>
              <a:t>I </a:t>
            </a:r>
            <a:r>
              <a:rPr lang="en-US" sz="2800" b="1" dirty="0"/>
              <a:t>have a right to speak freely and express my ideas and </a:t>
            </a:r>
            <a:r>
              <a:rPr lang="en-US" sz="2800" b="1" dirty="0" smtClean="0"/>
              <a:t>opinions</a:t>
            </a:r>
          </a:p>
          <a:p>
            <a:endParaRPr lang="en-US" sz="2800" b="1" dirty="0"/>
          </a:p>
        </p:txBody>
      </p:sp>
      <p:sp>
        <p:nvSpPr>
          <p:cNvPr id="11" name="Action Button: Forward or Next 10">
            <a:hlinkClick r:id="" action="ppaction://hlinkshowjump?jump=nextslide" highlightClick="1">
              <a:snd r:embed="rId4" name="arrow.wav"/>
            </a:hlinkClick>
          </p:cNvPr>
          <p:cNvSpPr/>
          <p:nvPr/>
        </p:nvSpPr>
        <p:spPr>
          <a:xfrm>
            <a:off x="4038600" y="4419600"/>
            <a:ext cx="1524000" cy="838200"/>
          </a:xfrm>
          <a:prstGeom prst="actionButtonForwardNex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5048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59599"/>
            <a:ext cx="6858000" cy="4203001"/>
          </a:xfrm>
        </p:spPr>
        <p:txBody>
          <a:bodyPr anchor="ctr">
            <a:noAutofit/>
          </a:bodyPr>
          <a:lstStyle/>
          <a:p>
            <a:pPr algn="l"/>
            <a:r>
              <a:rPr lang="en-US" sz="2800" b="1" dirty="0" smtClean="0">
                <a:solidFill>
                  <a:srgbClr val="000000"/>
                </a:solidFill>
              </a:rPr>
              <a:t>Answer: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I have a responsibility to be respectful of other people's ideas and opinions even if they are different to mine</a:t>
            </a:r>
            <a:endParaRPr 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35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306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36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80949" y="1836628"/>
            <a:ext cx="6858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Question 3:</a:t>
            </a:r>
          </a:p>
          <a:p>
            <a:endParaRPr lang="en-US" sz="2800" b="1" dirty="0"/>
          </a:p>
          <a:p>
            <a:r>
              <a:rPr lang="en-US" sz="3200" b="1" dirty="0" smtClean="0"/>
              <a:t>I </a:t>
            </a:r>
            <a:r>
              <a:rPr lang="en-US" sz="3200" b="1" dirty="0"/>
              <a:t>have the right to be treated the same as everyone else, no matter my age, sex, race, nationality, beliefs or other personal </a:t>
            </a:r>
            <a:r>
              <a:rPr lang="en-US" sz="3200" b="1" dirty="0" smtClean="0"/>
              <a:t>characteristics</a:t>
            </a:r>
          </a:p>
          <a:p>
            <a:endParaRPr lang="en-US" sz="2800" b="1" dirty="0"/>
          </a:p>
          <a:p>
            <a:endParaRPr lang="en-US" sz="2800" dirty="0"/>
          </a:p>
        </p:txBody>
      </p:sp>
      <p:sp>
        <p:nvSpPr>
          <p:cNvPr id="7" name="Action Button: Forward or Next 6">
            <a:hlinkClick r:id="" action="ppaction://hlinkshowjump?jump=nextslide" highlightClick="1">
              <a:snd r:embed="rId4" name="arrow.wav"/>
            </a:hlinkClick>
          </p:cNvPr>
          <p:cNvSpPr/>
          <p:nvPr/>
        </p:nvSpPr>
        <p:spPr>
          <a:xfrm>
            <a:off x="4273826" y="4916791"/>
            <a:ext cx="1524000" cy="838200"/>
          </a:xfrm>
          <a:prstGeom prst="actionButtonForwardNex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010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59599"/>
            <a:ext cx="6858000" cy="3822001"/>
          </a:xfrm>
        </p:spPr>
        <p:txBody>
          <a:bodyPr anchor="ctr">
            <a:noAutofit/>
          </a:bodyPr>
          <a:lstStyle/>
          <a:p>
            <a:pPr algn="l"/>
            <a:r>
              <a:rPr lang="en-US" sz="2800" b="1" dirty="0" smtClean="0">
                <a:solidFill>
                  <a:srgbClr val="000000"/>
                </a:solidFill>
              </a:rPr>
              <a:t>Answer: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I have a responsibility to treat others equally, without discrimination</a:t>
            </a:r>
            <a:endParaRPr 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37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306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38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80949" y="1836628"/>
            <a:ext cx="6858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Question 4:</a:t>
            </a:r>
          </a:p>
          <a:p>
            <a:endParaRPr lang="en-US" sz="2800" b="1" dirty="0"/>
          </a:p>
          <a:p>
            <a:r>
              <a:rPr lang="en-US" sz="3200" b="1" dirty="0" smtClean="0"/>
              <a:t>I </a:t>
            </a:r>
            <a:r>
              <a:rPr lang="en-US" sz="3200" b="1" dirty="0"/>
              <a:t>have the right to believe in a particular religion or belief, or in no religion at all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7" name="Action Button: Forward or Next 6">
            <a:hlinkClick r:id="" action="ppaction://hlinkshowjump?jump=nextslide" highlightClick="1">
              <a:snd r:embed="rId4" name="arrow.wav"/>
            </a:hlinkClick>
          </p:cNvPr>
          <p:cNvSpPr/>
          <p:nvPr/>
        </p:nvSpPr>
        <p:spPr>
          <a:xfrm>
            <a:off x="4273826" y="4916791"/>
            <a:ext cx="1524000" cy="838200"/>
          </a:xfrm>
          <a:prstGeom prst="actionButtonForwardNex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509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59599"/>
            <a:ext cx="6858000" cy="4203001"/>
          </a:xfrm>
        </p:spPr>
        <p:txBody>
          <a:bodyPr anchor="ctr">
            <a:noAutofit/>
          </a:bodyPr>
          <a:lstStyle/>
          <a:p>
            <a:pPr algn="l"/>
            <a:r>
              <a:rPr lang="en-US" sz="2800" b="1" dirty="0" smtClean="0">
                <a:solidFill>
                  <a:srgbClr val="000000"/>
                </a:solidFill>
              </a:rPr>
              <a:t>Answer: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I have the responsibility to respect the different religions and beliefs of other people and the ways they choose to practice their beliefs</a:t>
            </a:r>
            <a:endParaRPr 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39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306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970968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Your rights and responsibilities in this University</a:t>
            </a:r>
            <a:endParaRPr lang="en-US" sz="3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40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80949" y="1836628"/>
            <a:ext cx="6858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 smtClean="0"/>
              <a:t>List five rights and five responsibilities which you have  as a student of this University  </a:t>
            </a:r>
            <a:endParaRPr lang="en-US" sz="2800" b="1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4850114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970968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Your rights and responsibilities in your Country</a:t>
            </a:r>
            <a:endParaRPr lang="en-US" sz="3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41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80949" y="1836628"/>
            <a:ext cx="6858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 smtClean="0"/>
              <a:t>List five rights and five responsibilities which you have  as a Pakistani Citizen</a:t>
            </a:r>
            <a:endParaRPr lang="en-US" sz="2800" b="1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15162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107" y="400632"/>
            <a:ext cx="7619999" cy="970968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Your rights and responsibilities in this world</a:t>
            </a:r>
            <a:endParaRPr lang="en-US" sz="3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42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80949" y="1836628"/>
            <a:ext cx="6858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 smtClean="0"/>
              <a:t>List five rights and five responsibilities which you have  as a citizen of this world (Global Citizenship)</a:t>
            </a:r>
            <a:endParaRPr lang="en-US" sz="2800" b="1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15162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43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80949" y="1836628"/>
            <a:ext cx="685800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You can make a difference by in this world by:</a:t>
            </a:r>
          </a:p>
          <a:p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Standing up for your rights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Respecting rights of other human beings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Fulfilling your responsibility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algn="ctr"/>
            <a:r>
              <a:rPr lang="en-US" sz="3200" b="1" i="1" dirty="0" smtClean="0">
                <a:latin typeface="Sitka Small" pitchFamily="2" charset="0"/>
              </a:rPr>
              <a:t>Lets make a difference</a:t>
            </a:r>
            <a:endParaRPr lang="en-US" sz="3200" b="1" i="1" dirty="0">
              <a:latin typeface="Sitka Sma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53905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1119</Words>
  <Application>Microsoft Office PowerPoint</Application>
  <PresentationFormat>On-screen Show (4:3)</PresentationFormat>
  <Paragraphs>319</Paragraphs>
  <Slides>43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PowerPoint Presentation</vt:lpstr>
      <vt:lpstr>Natural right</vt:lpstr>
      <vt:lpstr>Right&amp; duties</vt:lpstr>
      <vt:lpstr>Duties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rights?????</vt:lpstr>
      <vt:lpstr>Right:</vt:lpstr>
      <vt:lpstr>Moral &amp; Legal Rights</vt:lpstr>
      <vt:lpstr>Activity:</vt:lpstr>
      <vt:lpstr>WANTS, NEEDS &amp; RIGHTS</vt:lpstr>
      <vt:lpstr>WANTS, NEEDS &amp; RIGHTS</vt:lpstr>
      <vt:lpstr>Positive Rights and Negatives Rights</vt:lpstr>
      <vt:lpstr>Underlying Values of Human Rights</vt:lpstr>
      <vt:lpstr>Underlying Values of Human Rights</vt:lpstr>
      <vt:lpstr>Brief History of Human Rights </vt:lpstr>
      <vt:lpstr>Medina Charter</vt:lpstr>
      <vt:lpstr>Magna Carta Libertatum; "the Great Charter of the Liberties" </vt:lpstr>
      <vt:lpstr>The Universal Declaration of HUMAN RIGHTS </vt:lpstr>
      <vt:lpstr>Main Provisions of UDHR</vt:lpstr>
      <vt:lpstr>WHAT HUMAN RIGHTS DO WE HAVE?</vt:lpstr>
      <vt:lpstr>WHAT HUMAN RIGHTS DO WE HAVE?</vt:lpstr>
      <vt:lpstr>WHAT HUMAN RIGHTS DO WE HAVE?</vt:lpstr>
      <vt:lpstr>WHAT HUMAN RIGHTS DO WE HAVE?</vt:lpstr>
      <vt:lpstr>WHAT HUMAN RIGHTS DO WE HAVE?</vt:lpstr>
      <vt:lpstr>WHAT HUMAN RIGHTS DO WE HAVE?</vt:lpstr>
      <vt:lpstr>PowerPoint Presentation</vt:lpstr>
      <vt:lpstr>Rights presume Responsibility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rights and responsibilities in this University</vt:lpstr>
      <vt:lpstr>Your rights and responsibilities in your Country</vt:lpstr>
      <vt:lpstr>Your rights and responsibilities in this world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M'Lynn</dc:creator>
  <cp:lastModifiedBy>haroon traders</cp:lastModifiedBy>
  <cp:revision>135</cp:revision>
  <dcterms:created xsi:type="dcterms:W3CDTF">2011-08-11T18:31:05Z</dcterms:created>
  <dcterms:modified xsi:type="dcterms:W3CDTF">2022-08-09T19:59:42Z</dcterms:modified>
</cp:coreProperties>
</file>