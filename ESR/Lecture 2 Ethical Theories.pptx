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  <p:sldMasterId id="2147483663" r:id="rId2"/>
  </p:sldMasterIdLst>
  <p:notesMasterIdLst>
    <p:notesMasterId r:id="rId22"/>
  </p:notesMasterIdLst>
  <p:sldIdLst>
    <p:sldId id="256" r:id="rId3"/>
    <p:sldId id="296" r:id="rId4"/>
    <p:sldId id="262" r:id="rId5"/>
    <p:sldId id="257" r:id="rId6"/>
    <p:sldId id="263" r:id="rId7"/>
    <p:sldId id="264" r:id="rId8"/>
    <p:sldId id="265" r:id="rId9"/>
    <p:sldId id="266" r:id="rId10"/>
    <p:sldId id="267" r:id="rId11"/>
    <p:sldId id="268" r:id="rId12"/>
    <p:sldId id="271" r:id="rId13"/>
    <p:sldId id="272" r:id="rId14"/>
    <p:sldId id="273" r:id="rId15"/>
    <p:sldId id="275" r:id="rId16"/>
    <p:sldId id="269" r:id="rId17"/>
    <p:sldId id="295" r:id="rId18"/>
    <p:sldId id="270" r:id="rId19"/>
    <p:sldId id="258" r:id="rId20"/>
    <p:sldId id="261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2"/>
  </p:normalViewPr>
  <p:slideViewPr>
    <p:cSldViewPr snapToGrid="0">
      <p:cViewPr>
        <p:scale>
          <a:sx n="157" d="100"/>
          <a:sy n="157" d="100"/>
        </p:scale>
        <p:origin x="-294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468866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0314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9574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3521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5742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4245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3177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5294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8398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900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6062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114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48155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820ad8c207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820ad8c207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layout">
  <p:cSld name="Cover Slide layout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body" idx="1"/>
          </p:nvPr>
        </p:nvSpPr>
        <p:spPr>
          <a:xfrm>
            <a:off x="0" y="3705210"/>
            <a:ext cx="9144000" cy="52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2"/>
          </p:nvPr>
        </p:nvSpPr>
        <p:spPr>
          <a:xfrm>
            <a:off x="-148" y="422793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 Layout">
  <p:cSld name="End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rgbClr val="17365D">
              <a:alpha val="7686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2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Layout">
  <p:cSld name="Basic Layout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0" y="48351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0" y="1059582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Layout">
  <p:cSld name="Agenda Layout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asic Layout">
  <p:cSld name="2_Basic Layout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179512" y="555526"/>
            <a:ext cx="8424936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2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asic Layout">
  <p:cSld name="1_Basic Layout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179512" y="483518"/>
            <a:ext cx="4248472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2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asic Layout">
  <p:cSld name="3_Basic Layout"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/>
          <p:nvPr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-42902" y="45594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0" y="887988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9"/>
          <p:cNvSpPr>
            <a:spLocks noGrp="1"/>
          </p:cNvSpPr>
          <p:nvPr>
            <p:ph type="pic" idx="3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rgbClr val="F2F2F2"/>
          </a:solidFill>
          <a:ln w="3810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9"/>
          <p:cNvSpPr>
            <a:spLocks noGrp="1"/>
          </p:cNvSpPr>
          <p:nvPr>
            <p:ph type="pic" idx="4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rgbClr val="F2F2F2"/>
          </a:solidFill>
          <a:ln w="3810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9"/>
          <p:cNvSpPr>
            <a:spLocks noGrp="1"/>
          </p:cNvSpPr>
          <p:nvPr>
            <p:ph type="pic" idx="5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rgbClr val="F2F2F2"/>
          </a:solidFill>
          <a:ln w="3810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9"/>
          <p:cNvSpPr>
            <a:spLocks noGrp="1"/>
          </p:cNvSpPr>
          <p:nvPr>
            <p:ph type="pic" idx="6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rgbClr val="F2F2F2"/>
          </a:solidFill>
          <a:ln w="3810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Contents Layout">
  <p:cSld name="Images and Contents Layou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0" tIns="45700" rIns="91425" bIns="45700" anchor="ctr" anchorCtr="0">
            <a:noAutofit/>
          </a:bodyPr>
          <a:lstStyle>
            <a:lvl1pPr marR="0" lvl="0" algn="l" rtl="0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s and Contents Layout">
  <p:cSld name="1_Images and Contents Layou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mages and Contents Layout">
  <p:cSld name="2_Images and Contents Layout">
    <p:bg>
      <p:bgPr>
        <a:solidFill>
          <a:srgbClr val="17365D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>
            <a:spLocks noGrp="1"/>
          </p:cNvSpPr>
          <p:nvPr>
            <p:ph type="pic" idx="2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2"/>
          <p:cNvSpPr>
            <a:spLocks noGrp="1"/>
          </p:cNvSpPr>
          <p:nvPr>
            <p:ph type="pic" idx="3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2"/>
          <p:cNvSpPr>
            <a:spLocks noGrp="1"/>
          </p:cNvSpPr>
          <p:nvPr>
            <p:ph type="pic" idx="4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asic Layout">
  <p:cSld name="4_Basic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>
            <a:spLocks noGrp="1"/>
          </p:cNvSpPr>
          <p:nvPr>
            <p:ph type="pic" idx="2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3"/>
          <p:cNvSpPr>
            <a:spLocks noGrp="1"/>
          </p:cNvSpPr>
          <p:nvPr>
            <p:ph type="pic" idx="3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>
            <a:spLocks noGrp="1"/>
          </p:cNvSpPr>
          <p:nvPr>
            <p:ph type="pic" idx="4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Images and Contents Layout">
  <p:cSld name="3_Images and Contents Layou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>
            <a:spLocks noGrp="1"/>
          </p:cNvSpPr>
          <p:nvPr>
            <p:ph type="pic" idx="2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>
            <a:spLocks noGrp="1"/>
          </p:cNvSpPr>
          <p:nvPr>
            <p:ph type="pic" idx="3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4"/>
          <p:cNvSpPr>
            <a:spLocks noGrp="1"/>
          </p:cNvSpPr>
          <p:nvPr>
            <p:ph type="pic" idx="4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4"/>
          <p:cNvSpPr>
            <a:spLocks noGrp="1"/>
          </p:cNvSpPr>
          <p:nvPr>
            <p:ph type="pic" idx="5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4"/>
          <p:cNvSpPr>
            <a:spLocks noGrp="1"/>
          </p:cNvSpPr>
          <p:nvPr>
            <p:ph type="pic" idx="6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Images and Contents Layout">
  <p:cSld name="4_Images and Contents Layou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0" y="41151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0" y="98757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8" name="Google Shape;58;p15" descr="D:\Fullppt\005-PNG이미지\노트북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757041" y="1313860"/>
            <a:ext cx="6438182" cy="327456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>
            <a:spLocks noGrp="1"/>
          </p:cNvSpPr>
          <p:nvPr>
            <p:ph type="pic" idx="3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con sets layout">
  <p:cSld name="icon sets layou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body" idx="1"/>
          </p:nvPr>
        </p:nvSpPr>
        <p:spPr>
          <a:xfrm>
            <a:off x="0" y="475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2" name="Google Shape;62;p16"/>
          <p:cNvGrpSpPr/>
          <p:nvPr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63" name="Google Shape;63;p16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rgbClr val="1736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6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40784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6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lt1">
                <a:alpha val="2274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6730-7A6A-4E94-8403-C90D8CF1FC41}" type="datetime1">
              <a:rPr lang="en-US" smtClean="0"/>
              <a:t>7/28/2022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2013 Cengage Learning. All Rights Reserved.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659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-23339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transition spd="slow">
    <p:push dir="r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4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 rot="10800000">
            <a:off x="-36511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4" r:id="rId13"/>
  </p:sldLayoutIdLst>
  <p:transition spd="slow">
    <p:push dir="r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hyperlink" Target="https://www.youtube.com/watch?v=FOoffXFpAlU&amp;list=PLa_ZSYFNmJvvtaPCcfY-xQljsJDyhMtWe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thicsunwrapped.utexas.edu/glossary/consequentialism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thics.org.au/ethics-explainer-virtue-ethics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osophyexperiments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zccoaL0stbM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images.app.goo.gl/B2QuxmwzcF7wxgMt5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13000"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-113561" y="2080586"/>
            <a:ext cx="9144000" cy="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 sz="4200" u="sng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Ethical </a:t>
            </a:r>
            <a:r>
              <a:rPr lang="en-US" sz="4200" u="sng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Theories</a:t>
            </a:r>
            <a:endParaRPr lang="en-US" sz="4200" u="sng" dirty="0" smtClean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 sz="4200" u="sng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Lecture </a:t>
            </a:r>
            <a:r>
              <a:rPr lang="en-US" sz="4200" u="sng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endParaRPr sz="4200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BE54FD1-3C4C-4E3E-BD0F-DC9ECD64302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0" y="804908"/>
            <a:ext cx="9144000" cy="3533683"/>
          </a:xfrm>
        </p:spPr>
        <p:txBody>
          <a:bodyPr/>
          <a:lstStyle/>
          <a:p>
            <a:pPr algn="l"/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the end of this session you should be able to: </a:t>
            </a:r>
          </a:p>
          <a:p>
            <a:pPr algn="l"/>
            <a:endParaRPr lang="en-US" sz="2000" b="1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describe ethical theories we discussed in the class </a:t>
            </a: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compare and evaluate different ethical theories we discussed</a:t>
            </a:r>
          </a:p>
          <a:p>
            <a:pPr marL="5715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differentiate between ethical relativism &amp; ethical absolutism</a:t>
            </a:r>
          </a:p>
          <a:p>
            <a:pPr algn="l"/>
            <a:endParaRPr lang="en-US" sz="2000" b="1" dirty="0">
              <a:solidFill>
                <a:schemeClr val="bg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terms: Consequentialist ethics, deontological ethics, virtue ethics, egoism,</a:t>
            </a:r>
          </a:p>
          <a:p>
            <a:pPr algn="just"/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utilitarianism, Kantian ethics, categorical imperative, ethical absolutism, ethical relativism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15170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63600" y="1459020"/>
            <a:ext cx="9207600" cy="257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What's the right thing to do?</a:t>
            </a: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What would you do?</a:t>
            </a: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Why? What is principle behind the moral reasoning? </a:t>
            </a:r>
          </a:p>
          <a:p>
            <a:pPr marL="457200" lvl="1" indent="0" algn="ctr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>
              <a:spcBef>
                <a:spcPts val="0"/>
              </a:spcBef>
              <a:buSzPts val="3600"/>
            </a:pPr>
            <a:r>
              <a:rPr lang="en-US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https://www.youtube.com/watch?v=bOpf6KcWYyw</a:t>
            </a:r>
            <a:endParaRPr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8187F753-DD04-4EE8-BB1F-DA6243054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Trolley Problem</a:t>
            </a:r>
            <a:endParaRPr lang="x-none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D2C37A7-CB64-4D2F-816B-1FFD155C7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679" y="3040912"/>
            <a:ext cx="3171321" cy="210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8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63600" y="1459020"/>
            <a:ext cx="9207600" cy="234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what's the right thing to do?</a:t>
            </a: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What would you do?</a:t>
            </a: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</a:p>
          <a:p>
            <a:pPr marL="457200" lvl="1" indent="0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 smtClean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https://www.youtube.com/watch?v=yg16u_bzjPE</a:t>
            </a: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ctr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8187F753-DD04-4EE8-BB1F-DA6243054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Trolley Problem( Large Man Version)</a:t>
            </a:r>
            <a:endParaRPr lang="x-none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57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63600" y="1459020"/>
            <a:ext cx="9207600" cy="234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What is the difference between two cases?</a:t>
            </a: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Are you adhering to the same moral principle in both cases while making ethical judgement?</a:t>
            </a:r>
          </a:p>
          <a:p>
            <a:pPr marL="457200" lvl="1" indent="0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ctr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8187F753-DD04-4EE8-BB1F-DA6243054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Trolley Problem( Large Man Version)</a:t>
            </a:r>
            <a:endParaRPr lang="x-none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24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63600" y="1459020"/>
            <a:ext cx="9207600" cy="234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Consequentialist</a:t>
            </a: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: Consequences or outcomes decide the moral worth of an action</a:t>
            </a:r>
          </a:p>
          <a:p>
            <a:pPr marL="457200" lvl="1" indent="0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Deontological</a:t>
            </a: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: morality is set of categorical duties which need to be fulfilled regardless of the consequences </a:t>
            </a: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ctr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8187F753-DD04-4EE8-BB1F-DA6243054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Moral Principles</a:t>
            </a:r>
            <a:endParaRPr lang="x-none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8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60556" y="1229293"/>
            <a:ext cx="9204556" cy="257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An ethical theory that judges whether or not an action is right by what its consequences </a:t>
            </a:r>
            <a:r>
              <a:rPr lang="en-US" sz="2000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are</a:t>
            </a: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  <a:hlinkClick r:id="rId4"/>
            </a:endParaRP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</a:t>
            </a: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://</a:t>
            </a:r>
            <a:r>
              <a:rPr lang="en-US" sz="2000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ethicsunwrapped.utexas.edu/glossary/consequentialism</a:t>
            </a:r>
            <a:endParaRPr lang="en-US" sz="2000" b="1" dirty="0" smtClean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It is an example of Ethical Relativism which holds that moral principles and moral values vary/ are changeable </a:t>
            </a:r>
          </a:p>
          <a:p>
            <a:pPr marL="742950" lvl="1" indent="-285750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ctr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8187F753-DD04-4EE8-BB1F-DA6243054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Consequentialism</a:t>
            </a:r>
            <a:endParaRPr lang="x-none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40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63600" y="1459020"/>
            <a:ext cx="9207600" cy="234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ctr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8187F753-DD04-4EE8-BB1F-DA6243054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Consequentialism</a:t>
            </a:r>
            <a:endParaRPr lang="x-none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749478D-CEAD-4B83-AC69-3902FD387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88" y="1466696"/>
            <a:ext cx="6826103" cy="299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1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78723" y="1168736"/>
            <a:ext cx="9222723" cy="26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 algn="just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Deontological ethics holds that at least some acts are morally obligatory regardless of their consequences</a:t>
            </a:r>
            <a:r>
              <a:rPr lang="en-US" sz="2000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742950" lvl="1" indent="-285750" algn="just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 algn="just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https://ethicsunwrapped.utexas.edu/glossary/deontology</a:t>
            </a:r>
            <a:endParaRPr lang="en-US"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 algn="just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 algn="just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It is form of Moral Absolutism, a theory which holds that there are certain universal and unchangeable moral principles by which all peoples’ actions may be judged.</a:t>
            </a:r>
          </a:p>
          <a:p>
            <a:pPr marL="457200" lvl="1" indent="0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ctr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8187F753-DD04-4EE8-BB1F-DA6243054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Deontological Ethics</a:t>
            </a:r>
            <a:endParaRPr lang="x-none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82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63600" y="1459020"/>
            <a:ext cx="9207600" cy="2347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ctr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8187F753-DD04-4EE8-BB1F-DA6243054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Deontological Ethics</a:t>
            </a:r>
            <a:endParaRPr lang="x-none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9359151-9A28-421B-B931-B394B4AA0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86" y="1054070"/>
            <a:ext cx="8312159" cy="325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53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DAEB9733-54E7-4BBD-9872-114F80E4E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Kantian Ethics</a:t>
            </a:r>
            <a:endParaRPr lang="x-none" b="1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5BF1EB5-173F-480A-8007-0F40459AC03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0" y="1059581"/>
            <a:ext cx="9144000" cy="3756967"/>
          </a:xfrm>
        </p:spPr>
        <p:txBody>
          <a:bodyPr/>
          <a:lstStyle/>
          <a:p>
            <a:pPr algn="l"/>
            <a:r>
              <a:rPr lang="en-US" sz="1600" b="1" dirty="0">
                <a:solidFill>
                  <a:srgbClr val="002060"/>
                </a:solidFill>
              </a:rPr>
              <a:t>Critical Importance of Good Will:</a:t>
            </a:r>
          </a:p>
          <a:p>
            <a:pPr algn="l"/>
            <a:endParaRPr lang="en-US" sz="1600" b="1" dirty="0">
              <a:solidFill>
                <a:srgbClr val="002060"/>
              </a:solidFill>
            </a:endParaRP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Good will is an intrinsic good (good in itself)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Good will: the desire to do the right thing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Good will= dutifulness (sense of duty)</a:t>
            </a:r>
          </a:p>
          <a:p>
            <a:pPr marL="514350" indent="-285750" algn="l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Reason should cultivate desire to do right thing</a:t>
            </a:r>
          </a:p>
          <a:p>
            <a:pPr algn="l"/>
            <a:endParaRPr lang="x-none" sz="1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74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4551" y="304801"/>
            <a:ext cx="5600700" cy="626627"/>
          </a:xfrm>
        </p:spPr>
        <p:txBody>
          <a:bodyPr>
            <a:normAutofit fontScale="90000"/>
          </a:bodyPr>
          <a:lstStyle/>
          <a:p>
            <a:r>
              <a:rPr lang="en-US" sz="3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Imperatives (Duties)</a:t>
            </a:r>
            <a:br>
              <a:rPr lang="en-US" sz="30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0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1280042"/>
            <a:ext cx="9144001" cy="3816350"/>
          </a:xfrm>
        </p:spPr>
        <p:txBody>
          <a:bodyPr anchor="ctr">
            <a:normAutofit/>
          </a:bodyPr>
          <a:lstStyle/>
          <a:p>
            <a:pPr algn="l"/>
            <a:r>
              <a:rPr lang="en-US" sz="1800" b="1" dirty="0">
                <a:solidFill>
                  <a:schemeClr val="bg2">
                    <a:lumMod val="75000"/>
                  </a:schemeClr>
                </a:solidFill>
              </a:rPr>
              <a:t>	Hypothetical Imperatives  </a:t>
            </a:r>
            <a:r>
              <a:rPr lang="en-US" sz="1800" b="1" dirty="0" smtClean="0">
                <a:solidFill>
                  <a:schemeClr val="bg2">
                    <a:lumMod val="75000"/>
                  </a:schemeClr>
                </a:solidFill>
              </a:rPr>
              <a:t>    </a:t>
            </a:r>
            <a:r>
              <a:rPr lang="en-US" sz="1800" b="1" dirty="0">
                <a:solidFill>
                  <a:schemeClr val="bg2">
                    <a:lumMod val="75000"/>
                  </a:schemeClr>
                </a:solidFill>
              </a:rPr>
              <a:t>		Categorical Imperatives</a:t>
            </a:r>
          </a:p>
          <a:p>
            <a:pPr marL="342900" indent="-342900" algn="l">
              <a:buFont typeface="Wingdings" pitchFamily="2" charset="2"/>
              <a:buChar char="v"/>
            </a:pPr>
            <a:endParaRPr lang="en-US" sz="1800" b="1" dirty="0" smtClean="0">
              <a:solidFill>
                <a:schemeClr val="tx1"/>
              </a:solidFill>
            </a:endParaRPr>
          </a:p>
          <a:p>
            <a:pPr marL="342900" indent="-342900" algn="l">
              <a:buFont typeface="Wingdings" pitchFamily="2" charset="2"/>
              <a:buChar char="v"/>
            </a:pPr>
            <a:endParaRPr lang="en-US" sz="1800" b="1" dirty="0" smtClean="0">
              <a:solidFill>
                <a:schemeClr val="tx1"/>
              </a:solidFill>
            </a:endParaRPr>
          </a:p>
          <a:p>
            <a:pPr marL="342900" indent="-342900" algn="l">
              <a:buFont typeface="Wingdings" pitchFamily="2" charset="2"/>
              <a:buChar char="v"/>
            </a:pPr>
            <a:endParaRPr lang="en-US" sz="1800" b="1" dirty="0">
              <a:solidFill>
                <a:schemeClr val="tx1"/>
              </a:solidFill>
            </a:endParaRPr>
          </a:p>
          <a:p>
            <a:pPr algn="l"/>
            <a:r>
              <a:rPr lang="en-US" sz="1800" b="1" dirty="0">
                <a:solidFill>
                  <a:schemeClr val="bg2">
                    <a:lumMod val="75000"/>
                  </a:schemeClr>
                </a:solidFill>
              </a:rPr>
              <a:t>         Conditional Obligations  </a:t>
            </a:r>
            <a:r>
              <a:rPr lang="en-US" sz="1800" b="1" dirty="0" smtClean="0">
                <a:solidFill>
                  <a:schemeClr val="bg2">
                    <a:lumMod val="75000"/>
                  </a:schemeClr>
                </a:solidFill>
              </a:rPr>
              <a:t>      </a:t>
            </a:r>
            <a:r>
              <a:rPr lang="en-US" sz="1800" b="1" dirty="0">
                <a:solidFill>
                  <a:schemeClr val="bg2">
                    <a:lumMod val="75000"/>
                  </a:schemeClr>
                </a:solidFill>
              </a:rPr>
              <a:t>	Unconditional</a:t>
            </a:r>
            <a:r>
              <a:rPr lang="en-US" sz="1800" b="1" dirty="0" smtClean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en-US" sz="1800" b="1" dirty="0">
                <a:solidFill>
                  <a:schemeClr val="bg2">
                    <a:lumMod val="75000"/>
                  </a:schemeClr>
                </a:solidFill>
              </a:rPr>
              <a:t>Absolute Obligations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543800" y="4978710"/>
            <a:ext cx="440180" cy="170036"/>
          </a:xfrm>
        </p:spPr>
        <p:txBody>
          <a:bodyPr/>
          <a:lstStyle/>
          <a:p>
            <a:fld id="{2A7F9223-B69B-4AA9-B6C4-9B69EF94F2BD}" type="slidenum">
              <a:rPr lang="en-US" sz="600">
                <a:solidFill>
                  <a:schemeClr val="accent1"/>
                </a:solidFill>
              </a:rPr>
              <a:pPr/>
              <a:t>12</a:t>
            </a:fld>
            <a:endParaRPr lang="en-US" sz="600" dirty="0">
              <a:solidFill>
                <a:schemeClr val="accent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128170" y="1242062"/>
            <a:ext cx="1439636" cy="1038224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637301" y="1242062"/>
            <a:ext cx="1490869" cy="1038224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011136" y="2962186"/>
            <a:ext cx="0" cy="394424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854902" y="2962186"/>
            <a:ext cx="0" cy="394424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62966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363" y="601086"/>
            <a:ext cx="7591646" cy="115328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Categorical Imperative (1</a:t>
            </a:r>
            <a:r>
              <a:rPr lang="en-US" sz="2400" b="1" baseline="300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Formulation):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363" y="1754372"/>
            <a:ext cx="7204887" cy="2158409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b="1" dirty="0">
                <a:solidFill>
                  <a:schemeClr val="bg2">
                    <a:lumMod val="75000"/>
                  </a:schemeClr>
                </a:solidFill>
              </a:rPr>
              <a:t>“Act only from moral rules that you can at the same time will to be universal moral laws.”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543800" y="4978710"/>
            <a:ext cx="440180" cy="170036"/>
          </a:xfrm>
        </p:spPr>
        <p:txBody>
          <a:bodyPr/>
          <a:lstStyle/>
          <a:p>
            <a:fld id="{2A7F9223-B69B-4AA9-B6C4-9B69EF94F2BD}" type="slidenum">
              <a:rPr lang="en-US" sz="600">
                <a:solidFill>
                  <a:schemeClr val="accent1"/>
                </a:solidFill>
              </a:rPr>
              <a:pPr/>
              <a:t>13</a:t>
            </a:fld>
            <a:endParaRPr lang="en-US" sz="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23035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363" y="601086"/>
            <a:ext cx="7591646" cy="115328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Categorical Imperative (2</a:t>
            </a:r>
            <a:r>
              <a:rPr lang="en-US" sz="2400" b="1" baseline="300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Formulation):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363" y="1754372"/>
            <a:ext cx="7204887" cy="2158409"/>
          </a:xfrm>
        </p:spPr>
        <p:txBody>
          <a:bodyPr anchor="ctr">
            <a:normAutofit/>
          </a:bodyPr>
          <a:lstStyle/>
          <a:p>
            <a:pPr algn="just"/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“Act so that you treat both yourself and other people as ends in themselves and never only as a means to an end”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543800" y="4978710"/>
            <a:ext cx="440180" cy="170036"/>
          </a:xfrm>
        </p:spPr>
        <p:txBody>
          <a:bodyPr/>
          <a:lstStyle/>
          <a:p>
            <a:fld id="{2A7F9223-B69B-4AA9-B6C4-9B69EF94F2BD}" type="slidenum">
              <a:rPr lang="en-US" sz="600">
                <a:solidFill>
                  <a:schemeClr val="accent1"/>
                </a:solidFill>
              </a:rPr>
              <a:pPr/>
              <a:t>14</a:t>
            </a:fld>
            <a:endParaRPr lang="en-US" sz="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384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63600" y="1459019"/>
            <a:ext cx="9207600" cy="294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>
              <a:spcBef>
                <a:spcPts val="0"/>
              </a:spcBef>
              <a:buSzPts val="3600"/>
            </a:pPr>
            <a:endParaRPr lang="en-US" b="1" dirty="0"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 algn="just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What kind of person I should be? </a:t>
            </a:r>
          </a:p>
          <a:p>
            <a:pPr marL="742950" lvl="1" indent="-285750" algn="just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 algn="just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Living a good life by cultivating an excellent (virtuous) character….</a:t>
            </a:r>
          </a:p>
          <a:p>
            <a:pPr marL="742950" lvl="1" indent="-285750" algn="just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 algn="just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No focus on particular principles or their consequences</a:t>
            </a:r>
          </a:p>
          <a:p>
            <a:pPr marL="457200" lvl="1" indent="0" algn="just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85750" algn="just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What are the traits of character that make a person a morally good human being</a:t>
            </a:r>
            <a:r>
              <a:rPr lang="en-US" sz="2000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  <a:p>
            <a:pPr marL="742950" lvl="1" indent="-285750" algn="just">
              <a:spcBef>
                <a:spcPts val="0"/>
              </a:spcBef>
              <a:buClr>
                <a:srgbClr val="00206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https://ethics.org.au/ethics-explainer-virtue-ethics</a:t>
            </a:r>
            <a:r>
              <a:rPr lang="en-US" sz="2000" b="1" dirty="0" smtClean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/</a:t>
            </a:r>
            <a:endParaRPr lang="en-US" sz="20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ctr">
              <a:spcBef>
                <a:spcPts val="0"/>
              </a:spcBef>
              <a:buClr>
                <a:srgbClr val="002060"/>
              </a:buClr>
              <a:buSzPct val="100000"/>
              <a:buNone/>
            </a:pPr>
            <a:endParaRPr lang="en-US" sz="2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8187F753-DD04-4EE8-BB1F-DA6243054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Virtue Ethics</a:t>
            </a:r>
            <a:endParaRPr lang="x-none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36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4279" y="864000"/>
            <a:ext cx="7019611" cy="626627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According to Aristotle: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50" y="1490627"/>
            <a:ext cx="5143500" cy="3152251"/>
          </a:xfrm>
        </p:spPr>
        <p:txBody>
          <a:bodyPr anchor="ctr">
            <a:noAutofit/>
          </a:bodyPr>
          <a:lstStyle/>
          <a:p>
            <a:endParaRPr lang="en-US" sz="2100" b="1" dirty="0">
              <a:solidFill>
                <a:srgbClr val="000000"/>
              </a:solidFill>
            </a:endParaRPr>
          </a:p>
          <a:p>
            <a:endParaRPr lang="en-US" sz="2100" b="1" dirty="0">
              <a:solidFill>
                <a:srgbClr val="000000"/>
              </a:solidFill>
            </a:endParaRPr>
          </a:p>
          <a:p>
            <a:r>
              <a:rPr lang="en-US" sz="2100" b="1" dirty="0">
                <a:solidFill>
                  <a:schemeClr val="bg2">
                    <a:lumMod val="75000"/>
                  </a:schemeClr>
                </a:solidFill>
              </a:rPr>
              <a:t>"Moral virtue is ... a mean between two vices, one of excess and the other of deficiency, and ... it aims at hitting the mean in emotions and actions."</a:t>
            </a:r>
          </a:p>
          <a:p>
            <a:endParaRPr lang="en-US" sz="2100" b="1" dirty="0">
              <a:solidFill>
                <a:srgbClr val="000000"/>
              </a:solidFill>
            </a:endParaRPr>
          </a:p>
          <a:p>
            <a:endParaRPr lang="en-US" sz="21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543800" y="4978710"/>
            <a:ext cx="440180" cy="170036"/>
          </a:xfrm>
        </p:spPr>
        <p:txBody>
          <a:bodyPr/>
          <a:lstStyle/>
          <a:p>
            <a:fld id="{2A7F9223-B69B-4AA9-B6C4-9B69EF94F2BD}" type="slidenum">
              <a:rPr lang="en-US" sz="600">
                <a:solidFill>
                  <a:schemeClr val="accent1"/>
                </a:solidFill>
              </a:rPr>
              <a:pPr/>
              <a:t>16</a:t>
            </a:fld>
            <a:endParaRPr lang="en-US" sz="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372421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31168D6-2285-4123-AB5A-E39C2CD4C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88" y="627321"/>
            <a:ext cx="9119712" cy="400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83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44087" y="1397918"/>
            <a:ext cx="914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 sz="4500" u="sng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“Know thyself” Self-Assessment</a:t>
            </a:r>
            <a:r>
              <a:rPr lang="en-US" sz="45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500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44087" y="2540918"/>
            <a:ext cx="914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sz="3100" u="sng" dirty="0">
                <a:solidFill>
                  <a:srgbClr val="002060"/>
                </a:solidFill>
                <a:hlinkClick r:id="rId4"/>
              </a:rPr>
              <a:t>https</a:t>
            </a:r>
            <a:r>
              <a:rPr lang="en-US" sz="3100" u="sng">
                <a:solidFill>
                  <a:srgbClr val="002060"/>
                </a:solidFill>
                <a:hlinkClick r:id="rId4"/>
              </a:rPr>
              <a:t>://</a:t>
            </a:r>
            <a:r>
              <a:rPr lang="en-US" sz="3100" u="sng" smtClean="0">
                <a:solidFill>
                  <a:srgbClr val="002060"/>
                </a:solidFill>
                <a:hlinkClick r:id="rId4"/>
              </a:rPr>
              <a:t>www.youtube.com/watch?v=zccoaL0stbM</a:t>
            </a:r>
            <a:endParaRPr lang="en-US" sz="3100" u="sng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>
            <a:spLocks noGrp="1"/>
          </p:cNvSpPr>
          <p:nvPr>
            <p:ph type="body" idx="1"/>
          </p:nvPr>
        </p:nvSpPr>
        <p:spPr>
          <a:xfrm>
            <a:off x="0" y="2159918"/>
            <a:ext cx="914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 u="sng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Thank You</a:t>
            </a:r>
            <a:endParaRPr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423</Words>
  <Application>Microsoft Office PowerPoint</Application>
  <PresentationFormat>On-screen Show (16:9)</PresentationFormat>
  <Paragraphs>107</Paragraphs>
  <Slides>19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Cover and End Slide Master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Imperatives (Duties) </vt:lpstr>
      <vt:lpstr> Categorical Imperative (1st Formulation):</vt:lpstr>
      <vt:lpstr> Categorical Imperative (2nd Formulation):</vt:lpstr>
      <vt:lpstr>PowerPoint Presentation</vt:lpstr>
      <vt:lpstr>According to Aristotle: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Noorunnisa Khan</dc:creator>
  <cp:lastModifiedBy>haroon traders</cp:lastModifiedBy>
  <cp:revision>24</cp:revision>
  <dcterms:modified xsi:type="dcterms:W3CDTF">2022-07-28T09:46:22Z</dcterms:modified>
</cp:coreProperties>
</file>